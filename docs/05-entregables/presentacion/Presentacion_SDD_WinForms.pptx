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8a262ab99b4f3a" /><Relationship Type="http://schemas.openxmlformats.org/officeDocument/2006/relationships/extended-properties" Target="/docProps/app.xml" Id="R28e45afdde914eea" /><Relationship Type="http://schemas.openxmlformats.org/officeDocument/2006/relationships/officeDocument" Target="/ppt/presentation.xml" Id="Rdf598f9700bd4d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59e718da914c92"/>
  </p:sldMasterIdLst>
  <p:notesMasterIdLst>
    <p:notesMasterId xmlns:r="http://schemas.openxmlformats.org/officeDocument/2006/relationships" r:id="R0a876dc8afc04ccc"/>
  </p:notesMasterIdLst>
  <p:sldIdLst>
    <p:sldId xmlns:r="http://schemas.openxmlformats.org/officeDocument/2006/relationships" id="256" r:id="R8061659309ba497b"/>
    <p:sldId xmlns:r="http://schemas.openxmlformats.org/officeDocument/2006/relationships" id="257" r:id="R7bb412bc9db44bef"/>
    <p:sldId xmlns:r="http://schemas.openxmlformats.org/officeDocument/2006/relationships" id="258" r:id="Rac4c616aca314048"/>
    <p:sldId xmlns:r="http://schemas.openxmlformats.org/officeDocument/2006/relationships" id="259" r:id="R441eff299dcf4d3a"/>
    <p:sldId xmlns:r="http://schemas.openxmlformats.org/officeDocument/2006/relationships" id="260" r:id="R747428a62b7b4786"/>
    <p:sldId xmlns:r="http://schemas.openxmlformats.org/officeDocument/2006/relationships" id="261" r:id="R3193abd2464e40c2"/>
    <p:sldId xmlns:r="http://schemas.openxmlformats.org/officeDocument/2006/relationships" id="262" r:id="R56567e88f8324ad5"/>
    <p:sldId xmlns:r="http://schemas.openxmlformats.org/officeDocument/2006/relationships" id="263" r:id="R4edb9b87c6ff4e60"/>
    <p:sldId xmlns:r="http://schemas.openxmlformats.org/officeDocument/2006/relationships" id="264" r:id="Rd52472d9216a4e12"/>
    <p:sldId xmlns:r="http://schemas.openxmlformats.org/officeDocument/2006/relationships" id="265" r:id="R1d6ee69a24154c29"/>
    <p:sldId xmlns:r="http://schemas.openxmlformats.org/officeDocument/2006/relationships" id="266" r:id="R29146ab3e28d4ea8"/>
    <p:sldId xmlns:r="http://schemas.openxmlformats.org/officeDocument/2006/relationships" id="267" r:id="R07c14978b5bb484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f7ac1dd6ef44aa1" /><Relationship Type="http://schemas.openxmlformats.org/officeDocument/2006/relationships/slideMaster" Target="/ppt/slideMasters/slideMaster1.xml" Id="R3059e718da914c92" /><Relationship Type="http://schemas.openxmlformats.org/officeDocument/2006/relationships/notesMaster" Target="/ppt/notesMasters/notesMaster1.xml" Id="R0a876dc8afc04ccc" /><Relationship Type="http://schemas.openxmlformats.org/officeDocument/2006/relationships/presProps" Target="/ppt/presProps.xml" Id="R1866ab9bd68d43c3" /><Relationship Type="http://schemas.openxmlformats.org/officeDocument/2006/relationships/tableStyles" Target="/ppt/tableStyles.xml" Id="Rc97044397f374e6a" /><Relationship Type="http://schemas.openxmlformats.org/officeDocument/2006/relationships/slide" Target="/ppt/slides/slide1.xml" Id="R8061659309ba497b" /><Relationship Type="http://schemas.openxmlformats.org/officeDocument/2006/relationships/slide" Target="/ppt/slides/slide2.xml" Id="R7bb412bc9db44bef" /><Relationship Type="http://schemas.openxmlformats.org/officeDocument/2006/relationships/slide" Target="/ppt/slides/slide3.xml" Id="Rac4c616aca314048" /><Relationship Type="http://schemas.openxmlformats.org/officeDocument/2006/relationships/slide" Target="/ppt/slides/slide4.xml" Id="R441eff299dcf4d3a" /><Relationship Type="http://schemas.openxmlformats.org/officeDocument/2006/relationships/slide" Target="/ppt/slides/slide5.xml" Id="R747428a62b7b4786" /><Relationship Type="http://schemas.openxmlformats.org/officeDocument/2006/relationships/slide" Target="/ppt/slides/slide6.xml" Id="R3193abd2464e40c2" /><Relationship Type="http://schemas.openxmlformats.org/officeDocument/2006/relationships/slide" Target="/ppt/slides/slide7.xml" Id="R56567e88f8324ad5" /><Relationship Type="http://schemas.openxmlformats.org/officeDocument/2006/relationships/slide" Target="/ppt/slides/slide8.xml" Id="R4edb9b87c6ff4e60" /><Relationship Type="http://schemas.openxmlformats.org/officeDocument/2006/relationships/slide" Target="/ppt/slides/slide9.xml" Id="Rd52472d9216a4e12" /><Relationship Type="http://schemas.openxmlformats.org/officeDocument/2006/relationships/slide" Target="/ppt/slides/slide10.xml" Id="R1d6ee69a24154c29" /><Relationship Type="http://schemas.openxmlformats.org/officeDocument/2006/relationships/slide" Target="/ppt/slides/slide11.xml" Id="R29146ab3e28d4ea8" /><Relationship Type="http://schemas.openxmlformats.org/officeDocument/2006/relationships/slide" Target="/ppt/slides/slide12.xml" Id="R07c14978b5bb48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0d70950a1243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77c340f7e44d50" /><Relationship Type="http://schemas.openxmlformats.org/officeDocument/2006/relationships/notesMaster" Target="/ppt/notesMasters/notesMaster1.xml" Id="R202acca66e8c43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b06f8b4949460a" /><Relationship Type="http://schemas.openxmlformats.org/officeDocument/2006/relationships/notesMaster" Target="/ppt/notesMasters/notesMaster1.xml" Id="R958d27f769f644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cc74a1cf23460c" /><Relationship Type="http://schemas.openxmlformats.org/officeDocument/2006/relationships/notesMaster" Target="/ppt/notesMasters/notesMaster1.xml" Id="Rfc7d7ffa802a4b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8ef4bc11ffc4de8" /><Relationship Type="http://schemas.openxmlformats.org/officeDocument/2006/relationships/notesMaster" Target="/ppt/notesMasters/notesMaster1.xml" Id="R2aba497897a944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1dd6c3b51224306" /><Relationship Type="http://schemas.openxmlformats.org/officeDocument/2006/relationships/notesMaster" Target="/ppt/notesMasters/notesMaster1.xml" Id="Rea4f796125a046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7d848ece1e14bc2" /><Relationship Type="http://schemas.openxmlformats.org/officeDocument/2006/relationships/notesMaster" Target="/ppt/notesMasters/notesMaster1.xml" Id="Rd1c23baa4d4a43e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a0c6a37e89c4bf8" /><Relationship Type="http://schemas.openxmlformats.org/officeDocument/2006/relationships/notesMaster" Target="/ppt/notesMasters/notesMaster1.xml" Id="R07d867c86daa48a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be769d618514f22" /><Relationship Type="http://schemas.openxmlformats.org/officeDocument/2006/relationships/notesMaster" Target="/ppt/notesMasters/notesMaster1.xml" Id="R3ad76bf774a542e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cdbdfd69d1d487f" /><Relationship Type="http://schemas.openxmlformats.org/officeDocument/2006/relationships/notesMaster" Target="/ppt/notesMasters/notesMaster1.xml" Id="Ra29d537cbd91478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208ff17404449fb" /><Relationship Type="http://schemas.openxmlformats.org/officeDocument/2006/relationships/notesMaster" Target="/ppt/notesMasters/notesMaster1.xml" Id="Re50a19baf9f8471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0acdc81179f440f" /><Relationship Type="http://schemas.openxmlformats.org/officeDocument/2006/relationships/notesMaster" Target="/ppt/notesMasters/notesMaster1.xml" Id="Rda024540a2c9471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41f637901b94d05" /><Relationship Type="http://schemas.openxmlformats.org/officeDocument/2006/relationships/notesMaster" Target="/ppt/notesMasters/notesMaster1.xml" Id="R5124f6de2c8e47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Presentación del primer parcial. 25 de octubre de 2026. Docente Ing. Cartuche. Santiago presenta el caso y SDD. Frank explica arquitectura y demostración.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Proyecto Parcial I - PA.pdf, guía proporcionada por el estudiante.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https://git-scm.com/book/en/v2/Git-Branching-Branching-Workflows . Propuesta de ramas breves para dos integrantes. La rama actual agrupa la funcionalidad.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Indicación del docente del 23 de octubre de 2026. Fuente complementaria: https://github.com/github/spec-kit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Contratos reales de specs/001-incidencias/spec.md. Descripción opcional hasta 2000. Sin autenticación ni multiusuario.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Solo Pendiente a EnProceso, EnProceso a Resuelta y Resuelta a EnProceso. Los cambios inválidos no modifican datos.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C# y .NET Framework 4.7.2. FrmPrincipal, FrmIncidencia y FrmDetalle tienen diseñadores editables. XML local en LocalAppData.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Repositorio privado: https://github.com/FrankEmilson41-glitch/GestionIncidenciasCopilo . PR: https://github.com/FrankEmilson41-glitch/GestionIncidenciasCopilo/pull/1 . La aprobación debe realizarla el compañero real. Fuente: https://docs.github.com/en/issues/planning-and-tracking-with-projects/learning-about-projects/about-projects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https://learn.microsoft.com/en-us/visualstudio/ide/copilot-agent-mode . Historial real en el chat del proyecto. Codex coordinó y documentó. Spec Kit consultado: https://github.com/github/spec-kit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Cada grupo contiene varias aserciones. Verificador propio sin xUnit/MSTest. Pruebas posteriores al código, sin TDD completo. CI Windows/MSBuild. La captura del PR muestra el momento previo con check en ejecución. Estado verde posterior observado en Visual Studio, sin log remoto exportado. Fuente: https://docs.github.com/en/actions/tutorials/build-and-test-code/net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Demostración Release: DEMO SDD - Error al iniciar sesion. Título vacío rechazado, edición conserva identidad, filtros sin coincidencias y reinicio conservan datos. Debug quedó bloqueado por una instancia anterior. Fuente TDD: https://learn.microsoft.com/en-us/dotnet/core/testing/unit-testing-best-practices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Reflexiones: Git conserva versiones. DevOps facilita verificación reproducible. La IA desplaza esfuerzo a especificar y revisar. Primera práctica propuesta: repositorio compartido con requisitos y revisión. Referencias completas en el informe. Fuente: https://docs.github.com/en/copilot/concepts/prompting-and-context/prompt-engineering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072d1d596d45f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ee47370aba4c8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769cd301164ca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1303888c1c45f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745f0ef5af4e1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96c72aa44840a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BED1EB1-654B-4EF6-AA5E-B373604AE3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D931AF2-6536-4CE5-BA54-50FC1E76CEF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FDCF1B7-DDC1-4CD6-807D-FC95C7CF7A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094B0AB-5B6E-466D-9FE1-636D86D361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C0C7657-EBB2-4687-AD34-B34B987DAC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A0E5AE8-82D4-489C-A314-51608D6BD5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D8CBBB1-6290-443C-8158-15742BAA9F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12E651F-959D-4A07-97FE-3B831E953F3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4C2C217-7D92-41B5-ADC7-46B7B1E1C9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FB26F3B-1DA6-4214-84E2-80C0A48292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563c46951c4f40" /><Relationship Type="http://schemas.openxmlformats.org/officeDocument/2006/relationships/slideLayout" Target="/ppt/slideLayouts/slideLayout1.xml" Id="R26b60a93792746ea" /><Relationship Type="http://schemas.openxmlformats.org/officeDocument/2006/relationships/slideLayout" Target="/ppt/slideLayouts/slideLayout2.xml" Id="R3dba907ac94b413b" /><Relationship Type="http://schemas.openxmlformats.org/officeDocument/2006/relationships/slideLayout" Target="/ppt/slideLayouts/slideLayout3.xml" Id="R354184bff93a4bbb" /><Relationship Type="http://schemas.openxmlformats.org/officeDocument/2006/relationships/slideLayout" Target="/ppt/slideLayouts/slideLayout4.xml" Id="R573a64a1af484aca" /><Relationship Type="http://schemas.openxmlformats.org/officeDocument/2006/relationships/slideLayout" Target="/ppt/slideLayouts/slideLayout5.xml" Id="Rd9ed857efd394418" /><Relationship Type="http://schemas.openxmlformats.org/officeDocument/2006/relationships/slideLayout" Target="/ppt/slideLayouts/slideLayout6.xml" Id="R525e68e5c84b49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b60a93792746ea"/>
    <p:sldLayoutId xmlns:r="http://schemas.openxmlformats.org/officeDocument/2006/relationships" id="2147483650" r:id="R3dba907ac94b413b"/>
    <p:sldLayoutId xmlns:r="http://schemas.openxmlformats.org/officeDocument/2006/relationships" id="2147483651" r:id="R354184bff93a4bbb"/>
    <p:sldLayoutId xmlns:r="http://schemas.openxmlformats.org/officeDocument/2006/relationships" id="2147483652" r:id="R573a64a1af484aca"/>
    <p:sldLayoutId xmlns:r="http://schemas.openxmlformats.org/officeDocument/2006/relationships" id="2147483653" r:id="Rd9ed857efd394418"/>
    <p:sldLayoutId xmlns:r="http://schemas.openxmlformats.org/officeDocument/2006/relationships" id="2147483654" r:id="R525e68e5c84b49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07ef86b8654421" /><Relationship Type="http://schemas.openxmlformats.org/officeDocument/2006/relationships/notesSlide" Target="/ppt/notesSlides/notesSlide1.xml" Id="R43cdb1af02ea41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271a9d8b0c4db7" /><Relationship Type="http://schemas.openxmlformats.org/officeDocument/2006/relationships/notesSlide" Target="/ppt/notesSlides/notesSlide2.xml" Id="Rdf366a9c762a4c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bc492f9a7e46ea" /><Relationship Type="http://schemas.openxmlformats.org/officeDocument/2006/relationships/notesSlide" Target="/ppt/notesSlides/notesSlide3.xml" Id="R572ab7e1d65a46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9044786f3b422c" /><Relationship Type="http://schemas.openxmlformats.org/officeDocument/2006/relationships/notesSlide" Target="/ppt/notesSlides/notesSlide4.xml" Id="R24efd1bb37b9470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02562c6e0c44da" /><Relationship Type="http://schemas.openxmlformats.org/officeDocument/2006/relationships/notesSlide" Target="/ppt/notesSlides/notesSlide5.xml" Id="Rb5cafe63d2fa468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7156b38c7e4e7a" /><Relationship Type="http://schemas.openxmlformats.org/officeDocument/2006/relationships/notesSlide" Target="/ppt/notesSlides/notesSlide6.xml" Id="R9679d2bf734f4b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430bb71f3748e7" /><Relationship Type="http://schemas.openxmlformats.org/officeDocument/2006/relationships/notesSlide" Target="/ppt/notesSlides/notesSlide7.xml" Id="Rc008eefda9dc446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e12530958a4b7f" /><Relationship Type="http://schemas.openxmlformats.org/officeDocument/2006/relationships/notesSlide" Target="/ppt/notesSlides/notesSlide8.xml" Id="Ra3fb6046c6c048c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f5c59f1a01404f" /><Relationship Type="http://schemas.openxmlformats.org/officeDocument/2006/relationships/notesSlide" Target="/ppt/notesSlides/notesSlide9.xml" Id="Rc9f6b6f44daf4fe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e78781e33441de" /><Relationship Type="http://schemas.openxmlformats.org/officeDocument/2006/relationships/notesSlide" Target="/ppt/notesSlides/notesSlide10.xml" Id="R784619caa33741f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d2a7f1749a4736" /><Relationship Type="http://schemas.openxmlformats.org/officeDocument/2006/relationships/notesSlide" Target="/ppt/notesSlides/notesSlide11.xml" Id="R187cf0f627ee487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59c75501bb4bb8" /><Relationship Type="http://schemas.openxmlformats.org/officeDocument/2006/relationships/notesSlide" Target="/ppt/notesSlides/notesSlide12.xml" Id="R74d5a87dd097482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D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DBDB9C-2C99-434B-A4B6-3602BCC9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08204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Desarrollo basado</a:t>
            </a:r>
          </a:p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 especificaciones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A0CD10-8B09-4E87-AB51-F83BB46A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1047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C4E1DE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C4E1DE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C4E1DE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C4E1DE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C4E1DE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C4E1DE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C4E1DE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C4E1DE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C4E1DE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C4E1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C4E1D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4E1DE"/>
                </a:solidFill>
                <a:latin typeface="Arial"/>
                <a:ea typeface="Arial"/>
                <a:cs typeface="Arial"/>
              </a:rPr>
              <a:t>Gestor de incidencias con Copilot</a:t>
            </a:r>
          </a:p>
          <a:p xmlns:a="http://schemas.openxmlformats.org/drawingml/2006/main">
            <a:pPr>
              <a:defRPr sz="1875" b="0">
                <a:solidFill>
                  <a:srgbClr val="C4E1D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4E1DE"/>
                </a:solidFill>
                <a:latin typeface="Arial"/>
                <a:ea typeface="Arial"/>
                <a:cs typeface="Arial"/>
              </a:rPr>
              <a:t>Santiago Nicolás Blacio Quimis</a:t>
            </a:r>
          </a:p>
          <a:p xmlns:a="http://schemas.openxmlformats.org/drawingml/2006/main">
            <a:pPr>
              <a:defRPr sz="1875" b="0">
                <a:solidFill>
                  <a:srgbClr val="C4E1D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4E1DE"/>
                </a:solidFill>
                <a:latin typeface="Arial"/>
                <a:ea typeface="Arial"/>
                <a:cs typeface="Arial"/>
              </a:rPr>
              <a:t>Frank Emilson Cárdenas Figueroa</a:t>
            </a:r>
          </a:p>
          <a:p xmlns:a="http://schemas.openxmlformats.org/drawingml/2006/main">
            <a:pPr>
              <a:defRPr sz="1875" b="0">
                <a:solidFill>
                  <a:srgbClr val="C4E1D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4E1DE"/>
                </a:solidFill>
                <a:latin typeface="Arial"/>
                <a:ea typeface="Arial"/>
                <a:cs typeface="Arial"/>
              </a:rPr>
              <a:t>Universidad Técnica de Machala, 4A</a:t>
            </a:r>
          </a:p>
        </p:txBody>
      </p:sp>
    </p:spTree>
    <p:extLst>
      <p:ext uri="{BB962C8B-B14F-4D97-AF65-F5344CB8AC3E}">
        <p14:creationId xmlns:p14="http://schemas.microsoft.com/office/powerpoint/2010/main" val="36811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0D3FAC-2821-41F0-9BEB-B7C3A972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El caso de la empresa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E9A379-A813-4884-87E6-EEFDFBC3A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104775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84754"/>
                </a:solidFill>
                <a:latin typeface="Arial"/>
                <a:ea typeface="Arial"/>
                <a:cs typeface="Arial"/>
              </a:rPr>
              <a:t>Pérdida de versiones y trabajo desorganizado</a:t>
            </a:r>
          </a:p>
          <a:p xmlns:a="http://schemas.openxmlformats.org/drawingml/2006/main">
            <a: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84754"/>
                </a:solidFill>
                <a:latin typeface="Arial"/>
                <a:ea typeface="Arial"/>
                <a:cs typeface="Arial"/>
              </a:rPr>
              <a:t>Errores en producción y poca documentación</a:t>
            </a:r>
          </a:p>
          <a:p xmlns:a="http://schemas.openxmlformats.org/drawingml/2006/main">
            <a: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84754"/>
                </a:solidFill>
                <a:latin typeface="Arial"/>
                <a:ea typeface="Arial"/>
                <a:cs typeface="Arial"/>
              </a:rPr>
              <a:t>Caso académico sin métricas de una empresa real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CBEADA-997A-42B6-917D-3E8BE423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717A"/>
                </a:solidFill>
                <a:latin typeface="Arial"/>
                <a:ea typeface="Arial"/>
                <a:cs typeface="Arial"/>
              </a:rPr>
              <a:t>02 / 12</a:t>
            </a:r>
          </a:p>
        </p:txBody>
      </p:sp>
    </p:spTree>
    <p:extLst>
      <p:ext uri="{BB962C8B-B14F-4D97-AF65-F5344CB8AC3E}">
        <p14:creationId xmlns:p14="http://schemas.microsoft.com/office/powerpoint/2010/main" val="4101842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078B92-4FCD-4E01-A678-710E31F9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Proceso propuesto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D35093-37DB-4896-8E69-3F87033B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104775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84754"/>
                </a:solidFill>
                <a:latin typeface="Arial"/>
                <a:ea typeface="Arial"/>
                <a:cs typeface="Arial"/>
              </a:rPr>
              <a:t>Git conserva el historial y GitHub permite revisarlo</a:t>
            </a:r>
          </a:p>
          <a:p xmlns:a="http://schemas.openxmlformats.org/drawingml/2006/main">
            <a: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84754"/>
                </a:solidFill>
                <a:latin typeface="Arial"/>
                <a:ea typeface="Arial"/>
                <a:cs typeface="Arial"/>
              </a:rPr>
              <a:t>La especificación define qué debe cumplir el código</a:t>
            </a:r>
          </a:p>
          <a:p xmlns:a="http://schemas.openxmlformats.org/drawingml/2006/main">
            <a: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84754"/>
                </a:solidFill>
                <a:latin typeface="Arial"/>
                <a:ea typeface="Arial"/>
                <a:cs typeface="Arial"/>
              </a:rPr>
              <a:t>Copilot implementa y Actions repite verificaciones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54D5A6-9876-49D6-9939-A98D5397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717A"/>
                </a:solidFill>
                <a:latin typeface="Arial"/>
                <a:ea typeface="Arial"/>
                <a:cs typeface="Arial"/>
              </a:rPr>
              <a:t>03 / 12</a:t>
            </a:r>
          </a:p>
        </p:txBody>
      </p:sp>
    </p:spTree>
    <p:extLst>
      <p:ext uri="{BB962C8B-B14F-4D97-AF65-F5344CB8AC3E}">
        <p14:creationId xmlns:p14="http://schemas.microsoft.com/office/powerpoint/2010/main" val="740321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6FA6BA-27ED-4EC1-A4D2-5C1AB181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Las seis fases de SDD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0C105F-994F-4351-B884-2947693E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104775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84754"/>
                </a:solidFill>
                <a:latin typeface="Arial"/>
                <a:ea typeface="Arial"/>
                <a:cs typeface="Arial"/>
              </a:rPr>
              <a:t>1  Requerimientos      2  Especificación</a:t>
            </a:r>
          </a:p>
          <a:p xmlns:a="http://schemas.openxmlformats.org/drawingml/2006/main">
            <a: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84754"/>
                </a:solidFill>
                <a:latin typeface="Arial"/>
                <a:ea typeface="Arial"/>
                <a:cs typeface="Arial"/>
              </a:rPr>
              <a:t>3  Plan técnico           4  Implementación con IA</a:t>
            </a:r>
          </a:p>
          <a:p xmlns:a="http://schemas.openxmlformats.org/drawingml/2006/main">
            <a: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84754"/>
                </a:solidFill>
                <a:latin typeface="Arial"/>
                <a:ea typeface="Arial"/>
                <a:cs typeface="Arial"/>
              </a:rPr>
              <a:t>5  Verificación            6  Evolución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B705BC-BCC2-4B2C-BDB8-A154E26B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717A"/>
                </a:solidFill>
                <a:latin typeface="Arial"/>
                <a:ea typeface="Arial"/>
                <a:cs typeface="Arial"/>
              </a:rPr>
              <a:t>04 / 12</a:t>
            </a:r>
          </a:p>
        </p:txBody>
      </p:sp>
    </p:spTree>
    <p:extLst>
      <p:ext uri="{BB962C8B-B14F-4D97-AF65-F5344CB8AC3E}">
        <p14:creationId xmlns:p14="http://schemas.microsoft.com/office/powerpoint/2010/main" val="2349524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C5381A-B28D-48AE-A5D1-0CF0D5FB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Reglas del gestor de incidencias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1AE415-4E08-40CB-94AD-1F09FCAB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104775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84754"/>
                </a:solidFill>
                <a:latin typeface="Arial"/>
                <a:ea typeface="Arial"/>
                <a:cs typeface="Arial"/>
              </a:rPr>
              <a:t>Título obligatorio, máximo 120 caracteres</a:t>
            </a:r>
          </a:p>
          <a:p xmlns:a="http://schemas.openxmlformats.org/drawingml/2006/main">
            <a: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84754"/>
                </a:solidFill>
                <a:latin typeface="Arial"/>
                <a:ea typeface="Arial"/>
                <a:cs typeface="Arial"/>
              </a:rPr>
              <a:t>Prioridad Baja, Media o Alta y fechas UTC</a:t>
            </a:r>
          </a:p>
          <a:p xmlns:a="http://schemas.openxmlformats.org/drawingml/2006/main">
            <a: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84754"/>
                </a:solidFill>
                <a:latin typeface="Arial"/>
                <a:ea typeface="Arial"/>
                <a:cs typeface="Arial"/>
              </a:rPr>
              <a:t>Búsqueda, filtros combinados y persistencia XML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BFE4BE-D164-4EB1-9C5A-413C86BC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717A"/>
                </a:solidFill>
                <a:latin typeface="Arial"/>
                <a:ea typeface="Arial"/>
                <a:cs typeface="Arial"/>
              </a:rPr>
              <a:t>05 / 12</a:t>
            </a:r>
          </a:p>
        </p:txBody>
      </p:sp>
    </p:spTree>
    <p:extLst>
      <p:ext uri="{BB962C8B-B14F-4D97-AF65-F5344CB8AC3E}">
        <p14:creationId xmlns:p14="http://schemas.microsoft.com/office/powerpoint/2010/main" val="15280375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D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87CB0B-5C39-4908-9EAF-3EC5E38A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Criterio de aceptación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2A5AD7-15B8-4311-BB9F-99DC7078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104775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C4E1DE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C4E1DE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C4E1DE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C4E1DE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C4E1DE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C4E1DE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C4E1DE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C4E1DE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C4E1DE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C4E1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C4E1DE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C4E1DE"/>
                </a:solidFill>
                <a:latin typeface="Arial"/>
                <a:ea typeface="Arial"/>
                <a:cs typeface="Arial"/>
              </a:rPr>
              <a:t>Dada una incidencia Pendiente</a:t>
            </a:r>
          </a:p>
          <a:p xmlns:a="http://schemas.openxmlformats.org/drawingml/2006/main">
            <a:pPr>
              <a:defRPr sz="2550" b="0">
                <a:solidFill>
                  <a:srgbClr val="C4E1DE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C4E1DE"/>
                </a:solidFill>
                <a:latin typeface="Arial"/>
                <a:ea typeface="Arial"/>
                <a:cs typeface="Arial"/>
              </a:rPr>
              <a:t>Al intentar pasar directamente a Resuelta</a:t>
            </a:r>
          </a:p>
          <a:p xmlns:a="http://schemas.openxmlformats.org/drawingml/2006/main">
            <a:pPr>
              <a:defRPr sz="2550" b="0">
                <a:solidFill>
                  <a:srgbClr val="C4E1DE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C4E1DE"/>
                </a:solidFill>
                <a:latin typeface="Arial"/>
                <a:ea typeface="Arial"/>
                <a:cs typeface="Arial"/>
              </a:rPr>
              <a:t>El sistema rechaza el cambio y conserva los datos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4C7196-569B-4A2A-A0B1-A9E044C7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C4E1D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C4E1D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C4E1D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C4E1D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C4E1D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C4E1D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C4E1D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C4E1D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C4E1D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C4E1D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C4E1D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4E1DE"/>
                </a:solidFill>
                <a:latin typeface="Arial"/>
                <a:ea typeface="Arial"/>
                <a:cs typeface="Arial"/>
              </a:rPr>
              <a:t>06 / 12</a:t>
            </a:r>
          </a:p>
        </p:txBody>
      </p:sp>
    </p:spTree>
    <p:extLst>
      <p:ext uri="{BB962C8B-B14F-4D97-AF65-F5344CB8AC3E}">
        <p14:creationId xmlns:p14="http://schemas.microsoft.com/office/powerpoint/2010/main" val="14051722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BF5CF8-8E03-420D-8CB7-0D7D857D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Arquitectura Windows Forms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D171FD-8DA4-4C37-88C9-30A5E33C8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104775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84754"/>
                </a:solidFill>
                <a:latin typeface="Arial"/>
                <a:ea typeface="Arial"/>
                <a:cs typeface="Arial"/>
              </a:rPr>
              <a:t>Entidades representan las incidencias</a:t>
            </a:r>
          </a:p>
          <a:p xmlns:a="http://schemas.openxmlformats.org/drawingml/2006/main">
            <a: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84754"/>
                </a:solidFill>
                <a:latin typeface="Arial"/>
                <a:ea typeface="Arial"/>
                <a:cs typeface="Arial"/>
              </a:rPr>
              <a:t>Controladores validan y coordinan las reglas</a:t>
            </a:r>
          </a:p>
          <a:p xmlns:a="http://schemas.openxmlformats.org/drawingml/2006/main">
            <a: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84754"/>
                </a:solidFill>
                <a:latin typeface="Arial"/>
                <a:ea typeface="Arial"/>
                <a:cs typeface="Arial"/>
              </a:rPr>
              <a:t>Datos guarda XML y Formularios presenta la interfaz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C1BCB5-BB65-45CC-9120-BFB30F04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717A"/>
                </a:solidFill>
                <a:latin typeface="Arial"/>
                <a:ea typeface="Arial"/>
                <a:cs typeface="Arial"/>
              </a:rPr>
              <a:t>07 / 12</a:t>
            </a:r>
          </a:p>
        </p:txBody>
      </p:sp>
    </p:spTree>
    <p:extLst>
      <p:ext uri="{BB962C8B-B14F-4D97-AF65-F5344CB8AC3E}">
        <p14:creationId xmlns:p14="http://schemas.microsoft.com/office/powerpoint/2010/main" val="6783785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28DB4B-27EA-4018-A370-2B3DD161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GitHub y revisión en dúo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0AA294-D335-497B-BEB2-862D1DC0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104775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84754"/>
                </a:solidFill>
                <a:latin typeface="Arial"/>
                <a:ea typeface="Arial"/>
                <a:cs typeface="Arial"/>
              </a:rPr>
              <a:t>Main y feature/gestor-incidencias publicadas</a:t>
            </a:r>
          </a:p>
          <a:p xmlns:a="http://schemas.openxmlformats.org/drawingml/2006/main">
            <a: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84754"/>
                </a:solidFill>
                <a:latin typeface="Arial"/>
                <a:ea typeface="Arial"/>
                <a:cs typeface="Arial"/>
              </a:rPr>
              <a:t>PR #1 en borrador, revisión del compañero pendiente</a:t>
            </a:r>
          </a:p>
          <a:p xmlns:a="http://schemas.openxmlformats.org/drawingml/2006/main">
            <a: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84754"/>
                </a:solidFill>
                <a:latin typeface="Arial"/>
                <a:ea typeface="Arial"/>
                <a:cs typeface="Arial"/>
              </a:rPr>
              <a:t>Issues, Kanban y milestone propuestos por completar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F1F39D-62E8-4306-9B7C-3479D3CC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717A"/>
                </a:solidFill>
                <a:latin typeface="Arial"/>
                <a:ea typeface="Arial"/>
                <a:cs typeface="Arial"/>
              </a:rPr>
              <a:t>08 / 12</a:t>
            </a:r>
          </a:p>
        </p:txBody>
      </p:sp>
    </p:spTree>
    <p:extLst>
      <p:ext uri="{BB962C8B-B14F-4D97-AF65-F5344CB8AC3E}">
        <p14:creationId xmlns:p14="http://schemas.microsoft.com/office/powerpoint/2010/main" val="2631920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206A51-3720-41FD-9787-907D2073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Copilot en Visual 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C2A5B2-A7D2-4CBC-8E75-59153D0E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104775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84754"/>
                </a:solidFill>
                <a:latin typeface="Arial"/>
                <a:ea typeface="Arial"/>
                <a:cs typeface="Arial"/>
              </a:rPr>
              <a:t>Generación real mediante el chat del proyecto</a:t>
            </a:r>
          </a:p>
          <a:p xmlns:a="http://schemas.openxmlformats.org/drawingml/2006/main">
            <a: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84754"/>
                </a:solidFill>
                <a:latin typeface="Arial"/>
                <a:ea typeface="Arial"/>
                <a:cs typeface="Arial"/>
              </a:rPr>
              <a:t>Cambios por tareas y formularios con Designer.cs</a:t>
            </a:r>
          </a:p>
          <a:p xmlns:a="http://schemas.openxmlformats.org/drawingml/2006/main">
            <a: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84754"/>
                </a:solidFill>
                <a:latin typeface="Arial"/>
                <a:ea typeface="Arial"/>
                <a:cs typeface="Arial"/>
              </a:rPr>
              <a:t>SDD aplicado sin ejecutar la CLI de Spec Kit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196B71-80E9-45A0-B1D3-56D8ED77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717A"/>
                </a:solidFill>
                <a:latin typeface="Arial"/>
                <a:ea typeface="Arial"/>
                <a:cs typeface="Arial"/>
              </a:rPr>
              <a:t>09 / 12</a:t>
            </a:r>
          </a:p>
        </p:txBody>
      </p:sp>
    </p:spTree>
    <p:extLst>
      <p:ext uri="{BB962C8B-B14F-4D97-AF65-F5344CB8AC3E}">
        <p14:creationId xmlns:p14="http://schemas.microsoft.com/office/powerpoint/2010/main" val="19856004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551F50-B33F-4B67-8772-D85D4AD61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Pruebas y automatización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1E7E72-87D6-4C7F-A45F-80F97F5A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104775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84754"/>
                </a:solidFill>
                <a:latin typeface="Arial"/>
                <a:ea typeface="Arial"/>
                <a:cs typeface="Arial"/>
              </a:rPr>
              <a:t>Ocho grupos de aserciones aprobados en Release</a:t>
            </a:r>
          </a:p>
          <a:p xmlns:a="http://schemas.openxmlformats.org/drawingml/2006/main">
            <a: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84754"/>
                </a:solidFill>
                <a:latin typeface="Arial"/>
                <a:ea typeface="Arial"/>
                <a:cs typeface="Arial"/>
              </a:rPr>
              <a:t>El PR mostró comprobaciones opcionales superadas</a:t>
            </a:r>
          </a:p>
          <a:p xmlns:a="http://schemas.openxmlformats.org/drawingml/2006/main">
            <a: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84754"/>
                </a:solidFill>
                <a:latin typeface="Arial"/>
                <a:ea typeface="Arial"/>
                <a:cs typeface="Arial"/>
              </a:rPr>
              <a:t>Actions compila, verifica y conserva binarios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97B33A-A1DF-4F8B-BD7D-3649A030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717A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</p:spTree>
    <p:extLst>
      <p:ext uri="{BB962C8B-B14F-4D97-AF65-F5344CB8AC3E}">
        <p14:creationId xmlns:p14="http://schemas.microsoft.com/office/powerpoint/2010/main" val="17496077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41AD26-0B56-4904-B4CB-5CEA098D1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Demostración y evolución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A549D1-0305-4FB8-9FCF-24F2FA81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104775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84754"/>
                </a:solidFill>
                <a:latin typeface="Arial"/>
                <a:ea typeface="Arial"/>
                <a:cs typeface="Arial"/>
              </a:rPr>
              <a:t>Alta, edición, transiciones y filtros comprobados</a:t>
            </a:r>
          </a:p>
          <a:p xmlns:a="http://schemas.openxmlformats.org/drawingml/2006/main">
            <a: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84754"/>
                </a:solidFill>
                <a:latin typeface="Arial"/>
                <a:ea typeface="Arial"/>
                <a:cs typeface="Arial"/>
              </a:rPr>
              <a:t>Los datos se conservaron después de reiniciar</a:t>
            </a:r>
          </a:p>
          <a:p xmlns:a="http://schemas.openxmlformats.org/drawingml/2006/main">
            <a: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84754"/>
                </a:solidFill>
                <a:latin typeface="Arial"/>
                <a:ea typeface="Arial"/>
                <a:cs typeface="Arial"/>
              </a:rPr>
              <a:t>Próxima evolución con prueba fallida antes del código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1F368D-1EA6-449D-ACBD-FA66FED7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717A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</p:spTree>
    <p:extLst>
      <p:ext uri="{BB962C8B-B14F-4D97-AF65-F5344CB8AC3E}">
        <p14:creationId xmlns:p14="http://schemas.microsoft.com/office/powerpoint/2010/main" val="185283376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229C5B-871F-498A-81F6-6470563D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Conclusiones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4112AF-D806-42EA-9730-B0A6031A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1047750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defPPr>
            <a:lvl1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1pPr>
            <a:lvl2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2pPr>
            <a:lvl3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3pPr>
            <a:lvl4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4pPr>
            <a:lvl5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5pPr>
            <a:lvl6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6pPr>
            <a:lvl7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7pPr>
            <a:lvl8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8pPr>
            <a:lvl9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84754"/>
                </a:solidFill>
                <a:latin typeface="Arial"/>
                <a:ea typeface="Arial"/>
                <a:cs typeface="Arial"/>
              </a:rPr>
              <a:t>La especificación fija criterios para aceptar cambios</a:t>
            </a:r>
          </a:p>
          <a:p xmlns:a="http://schemas.openxmlformats.org/drawingml/2006/main">
            <a: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84754"/>
                </a:solidFill>
                <a:latin typeface="Arial"/>
                <a:ea typeface="Arial"/>
                <a:cs typeface="Arial"/>
              </a:rPr>
              <a:t>Git conserva el contexto y CI repite comprobaciones</a:t>
            </a:r>
          </a:p>
          <a:p xmlns:a="http://schemas.openxmlformats.org/drawingml/2006/main">
            <a:pPr>
              <a:defRPr sz="2550" b="0">
                <a:solidFill>
                  <a:srgbClr val="284754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84754"/>
                </a:solidFill>
                <a:latin typeface="Arial"/>
                <a:ea typeface="Arial"/>
                <a:cs typeface="Arial"/>
              </a:rPr>
              <a:t>La revisión humana exige comprender el código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1A5095-7C8D-420C-9D23-24CE1EA4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71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717A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</p:spTree>
    <p:extLst>
      <p:ext uri="{BB962C8B-B14F-4D97-AF65-F5344CB8AC3E}">
        <p14:creationId xmlns:p14="http://schemas.microsoft.com/office/powerpoint/2010/main" val="2933158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2026-10-25T14:03:57.4570000Z</dcterms:created>
  <dcterms:modified xsi:type="dcterms:W3CDTF">2026-10-25T14:03:57.4570000Z</dcterms:modified>
</coreProperties>
</file>