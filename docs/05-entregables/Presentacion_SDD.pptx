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7" r:id="rId23"/>
    <p:sldId id="268" r:id="rId25"/>
    <p:sldId id="269" r:id="rId26"/>
    <p:sldId id="270" r:id="rId27"/>
    <p:sldId id="271" r:id="rId28"/>
    <p:sldId id="272" r:id="rId29"/>
    <p:sldId id="273" r:id="rId30"/>
    <p:sldId id="274" r:id="rId31"/>
    <p:sldId id="275" r:id="rId32"/>
    <p:sldId id="276" r:id="rId33"/>
    <p:sldId id="277" r:id="rId34"/>
    <p:sldId id="278" r:id="rId35"/>
    <p:sldId id="279" r:id="rId36"/>
  </p:sldIdLst>
  <p:sldSz cx="18288000" cy="10287000"/>
  <p:notesSz cx="6858000" cy="9144000"/>
  <p:embeddedFontLst>
    <p:embeddedFont>
      <p:font typeface="Cormorant Garamond Bold" charset="1" panose="00000800000000000000"/>
      <p:regular r:id="rId17"/>
    </p:embeddedFont>
    <p:embeddedFont>
      <p:font typeface="Barlow Medium" charset="1" panose="00000600000000000000"/>
      <p:regular r:id="rId18"/>
    </p:embeddedFont>
    <p:embeddedFont>
      <p:font typeface="Barlow" charset="1" panose="00000500000000000000"/>
      <p:regular r:id="rId19"/>
    </p:embeddedFont>
    <p:embeddedFont>
      <p:font typeface="Barlow Ultra-Bold" charset="1" panose="00000900000000000000"/>
      <p:regular r:id="rId20"/>
    </p:embeddedFont>
    <p:embeddedFont>
      <p:font typeface="Barlow Bold" charset="1" panose="00000800000000000000"/>
      <p:regular r:id="rId21"/>
    </p:embeddedFont>
    <p:embeddedFont>
      <p:font typeface="Barlow Light" charset="1" panose="000004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slide" Target="slides/slide12.xml"/><Relationship Id="rId24" Type="http://schemas.openxmlformats.org/officeDocument/2006/relationships/notesMaster" Target="notesMasters/notesMaster1.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Santiago Nicolás Blacio Quimis. Presentar la aplicación local WinForms .NET Framework 4.7.2 y el propósito de desarrollar desde especificaciones. La guía solicita una empresa hipotética ecuatoriana.</a:t>
            </a:r>
          </a:p>
          <a:p>
            <a:r>
              <a:t>Fuentes: </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Santiago Nicolás Blacio Quimis. La empresa es hipotética. No se inventan indicadores de productividad. La propuesta relaciona cada problema de la guía con una práctica verificable. El objetivo es controlar los cambios y detectar errores antes de distribuir una versión.</a:t>
            </a:r>
          </a:p>
          <a:p>
            <a:r>
              <a:t>Fuentes: </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Santiago Nicolás Blacio Quimis. Git conserva historia, permite comparar, fusionar y revertir cambios. Git Flow usa ramas de desarrollo, funcionalidades y versiones. Trunk Based integra cambios pequeños con frecuencia. Se propone el segundo enfoque para un dúo, pero la demostración actual tiene una rama funcional larga. No afirmar que el compañero revisó o fusionó.</a:t>
            </a:r>
          </a:p>
          <a:p>
            <a:r>
              <a:t>Fuentes: https://git-scm.com/book/en/v2/Git-Branching-Branching-Workflows ; https://docs.github.com/en/pull-requests/reference/pull-requests</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Santiago Nicolás Blacio Quimis. Explicar las seis fases indicadas por el docente el 23 de octubre. Los commits de requisitos, especificación y plan preceden a la implementación. Spec Kit estructura ese trabajo, pero no se debe atribuir su instalación o uso de CLI a esta entrega.</a:t>
            </a:r>
          </a:p>
          <a:p>
            <a:r>
              <a:t>Fuentes: https://github.com/github/spec-kit</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Santiago Nicolás Blacio Quimis. La captura muestra el ErrorProvider rojo del título. Se canceló sin crear datos. La matriz del Anexo A vincula RF-01 a RF-12 con CA-01 a CA-14 y sus pruebas. Los contratos completos viven en specs/001-incidencias/spec.md.</a:t>
            </a:r>
          </a:p>
          <a:p>
            <a:r>
              <a:t>Fuentes: </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Santiago Nicolás Blacio Quimis. La imagen es del historial real. Pedir comportamiento, restricciones y aceptación mejora la precisión del prompt. La IA genera propuestas que las personas deben comprender y validar. La base y la prueba provienen de Copilot; Codex implementó el arreglo tras perder el control remoto. No afirmar que todo fue generado por una misma IA.</a:t>
            </a:r>
          </a:p>
          <a:p>
            <a:r>
              <a:t>Fuentes: https://learn.microsoft.com/en-us/visualstudio/ide/copilot-agent-mode ; https://docs.github.com/en/copilot/concepts/prompting-and-context/prompt-engineering</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Frank Emilson Cárdenas Figueroa. Cada formulario conserva Designer editable. El controlador confirma cambios después de guardar y devuelve copias para proteger la memoria. XML valida formato, versión, identificadores y UTC. Es un sistema local, sin autenticación ni concurrencia multiusuario.</a:t>
            </a:r>
          </a:p>
          <a:p>
            <a:r>
              <a:t>Fuentes: </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Frank Emilson Cárdenas Figueroa. Demostrar el registro DEMO SDD - Error al iniciar sesion. El GUID termina en 9336 y las fechas UTC coinciden tras reiniciar. Las transiciones autorizadas se evalúan en el controlador. Resuelta permite volver a En proceso. No confundir el registro de demostración con información de una empresa real.</a:t>
            </a:r>
          </a:p>
          <a:p>
            <a:r>
              <a:t>Fuentes: </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Frank Emilson Cárdenas Figueroa. Run 40204708554, job 121203080970. Explicar eventos push y pull_request. Es CI más empaquetado, no despliegue productivo. No usa dotnet test ni se midió cobertura. Se recomienda distribución versionada, firma y entorno piloto para un CD futuro.</a:t>
            </a:r>
          </a:p>
          <a:p>
            <a:r>
              <a:t>Fuentes: https://docs.github.com/en/actions/tutorials/build-and-test-code/net</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Frank Emilson Cárdenas Figueroa. TDD plantea prueba fallida, implementación mínima y refactorización. Aquí solo se acredita prueba previa y arreglo de esta evolución. El Anexo E contiene registros originales rojo y verde. El cleanup no borra temporales ajenos y evita que un fallo de borrado sustituya el error original.</a:t>
            </a:r>
          </a:p>
          <a:p>
            <a:r>
              <a:t>Fuentes: https://learn.microsoft.com/en-us/dotnet/core/testing/unit-testing-best-practices</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Expositor sugerido: Frank Emilson Cárdenas Figueroa. El Project tiene cinco elementos: tres Ready y dos Done. El milestone tiene dos Issues abiertos y dos cerrados. Su 50% no mide el código ni la nota. Se propone acordar reglas, migrar un piloto, automatizar validaciones y revisar métricas de defectos, tiempo de revisión y recuperación. La revisión real del compañero permanece pendiente.</a:t>
            </a:r>
          </a:p>
          <a:p>
            <a:r>
              <a:t>Fuentes: https://docs.github.com/en/issues/planning-and-tracking-with-projects/learning-about-projects/about-projects</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ambos integrantes. El resultado demuestra el flujo SDD con una aplicación local y evidencia verificable. La adopción empresarial requiere revisar seguridad, concurrencia y distribución. Estas reflexiones son propuestas de redacción para que ambos integrantes las validen antes de exponer. Referencias completas en el informe APA 7. Investigación: Git Pro, GitHub Spec Kit, documentación de GitHub Actions, Copilot, Projects y Microsoft Testing.</a:t>
            </a:r>
          </a:p>
          <a:p>
            <a:r>
              <a:t>Fuentes: </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ambos integrantes. El resultado demuestra el flujo SDD con una aplicación local y evidencia verificable. La adopción empresarial requiere revisar seguridad, concurrencia y distribución. Estas reflexiones son propuestas de redacción para que ambos integrantes las validen antes de exponer. Referencias completas en el informe APA 7. Investigación: Git Pro, GitHub Spec Kit, documentación de GitHub Actions, Copilot, Projects y Microsoft Testing.</a:t>
            </a:r>
          </a:p>
          <a:p>
            <a:r>
              <a:t>Fuentes: </a:t>
            </a:r>
          </a:p>
          <a:p>
            <a:r>
              <a:t>Capturas reales del proyecto, 25 de octubre de 2026. Consulte el informe y sus anexos para los contratos y registros completos.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7.jpg"/><Relationship Id="rId4"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28.jpg"/><Relationship Id="rId4"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9.jpg"/><Relationship Id="rId4"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0.jpg"/><Relationship Id="rId4"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31.jpg"/><Relationship Id="rId4"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2.jpg"/><Relationship Id="rId4"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3.jpg"/><Relationship Id="rId4"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notesSlide" Target="../notesSlides/notesSlide13.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4" id="4"/>
          <p:cNvGrpSpPr/>
          <p:nvPr/>
        </p:nvGrpSpPr>
        <p:grpSpPr>
          <a:xfrm rot="5400000">
            <a:off x="13144500" y="4057512"/>
            <a:ext cx="10287000" cy="2171976"/>
            <a:chOff x="0" y="0"/>
            <a:chExt cx="735852" cy="155366"/>
          </a:xfrm>
        </p:grpSpPr>
        <p:sp>
          <p:nvSpPr>
            <p:cNvPr name="Freeform 5" id="5"/>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6D3720"/>
            </a:solidFill>
          </p:spPr>
        </p:sp>
        <p:sp>
          <p:nvSpPr>
            <p:cNvPr name="TextBox 6" id="6"/>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7" name="TextBox 6"/>
          <p:cNvSpPr txBox="1"/>
          <p:nvPr/>
        </p:nvSpPr>
        <p:spPr>
          <a:xfrm>
            <a:off x="1005840" y="960120"/>
            <a:ext cx="12801600" cy="548640"/>
          </a:xfrm>
          <a:prstGeom prst="rect">
            <a:avLst/>
          </a:prstGeom>
          <a:noFill/>
        </p:spPr>
        <p:txBody>
          <a:bodyPr wrap="square" lIns="0" rIns="0" tIns="0" bIns="0" anchor="t">
            <a:noAutofit/>
          </a:bodyPr>
          <a:lstStyle/>
          <a:p>
            <a:pPr algn="l"/>
            <a:r>
              <a:rPr sz="2800" b="1" i="0">
                <a:solidFill>
                  <a:srgbClr val="6D3720"/>
                </a:solidFill>
                <a:latin typeface="Barlow"/>
              </a:rPr>
              <a:t>PROGRAMACIÓN AVANZADA EN C# · 4A</a:t>
            </a:r>
          </a:p>
        </p:txBody>
      </p:sp>
      <p:sp>
        <p:nvSpPr>
          <p:cNvPr id="8" name="Título"/>
          <p:cNvSpPr txBox="1"/>
          <p:nvPr/>
        </p:nvSpPr>
        <p:spPr>
          <a:xfrm>
            <a:off x="1005840" y="3017520"/>
            <a:ext cx="12801600" cy="3840480"/>
          </a:xfrm>
          <a:prstGeom prst="rect">
            <a:avLst/>
          </a:prstGeom>
          <a:noFill/>
        </p:spPr>
        <p:txBody>
          <a:bodyPr wrap="square" lIns="0" rIns="0" tIns="0" bIns="0" anchor="t">
            <a:noAutofit/>
          </a:bodyPr>
          <a:lstStyle/>
          <a:p>
            <a:pPr algn="l"/>
            <a:r>
              <a:rPr sz="11000" b="1" i="0">
                <a:solidFill>
                  <a:srgbClr val="421E0F"/>
                </a:solidFill>
                <a:latin typeface="Cormorant Garamond Bold"/>
              </a:rPr>
              <a:t>GESTOR DE</a:t>
            </a:r>
          </a:p>
          <a:p>
            <a:pPr algn="l"/>
            <a:r>
              <a:rPr sz="11000" b="1" i="0">
                <a:solidFill>
                  <a:srgbClr val="421E0F"/>
                </a:solidFill>
                <a:latin typeface="Cormorant Garamond Bold"/>
              </a:rPr>
              <a:t>INCIDENCIAS</a:t>
            </a:r>
          </a:p>
        </p:txBody>
      </p:sp>
      <p:sp>
        <p:nvSpPr>
          <p:cNvPr id="9" name="TextBox 8"/>
          <p:cNvSpPr txBox="1"/>
          <p:nvPr/>
        </p:nvSpPr>
        <p:spPr>
          <a:xfrm>
            <a:off x="1005840" y="7040880"/>
            <a:ext cx="12801600" cy="822960"/>
          </a:xfrm>
          <a:prstGeom prst="rect">
            <a:avLst/>
          </a:prstGeom>
          <a:noFill/>
        </p:spPr>
        <p:txBody>
          <a:bodyPr wrap="square" lIns="0" rIns="0" tIns="0" bIns="0" anchor="t">
            <a:noAutofit/>
          </a:bodyPr>
          <a:lstStyle/>
          <a:p>
            <a:pPr algn="l"/>
            <a:r>
              <a:rPr sz="4000" b="1" i="0">
                <a:solidFill>
                  <a:srgbClr val="6D3720"/>
                </a:solidFill>
                <a:latin typeface="Barlow"/>
              </a:rPr>
              <a:t>CON SDD Y COPILOT</a:t>
            </a:r>
          </a:p>
        </p:txBody>
      </p:sp>
      <p:sp>
        <p:nvSpPr>
          <p:cNvPr id="10" name="TextBox 9"/>
          <p:cNvSpPr txBox="1"/>
          <p:nvPr/>
        </p:nvSpPr>
        <p:spPr>
          <a:xfrm>
            <a:off x="1005840" y="8412480"/>
            <a:ext cx="14173200" cy="1280160"/>
          </a:xfrm>
          <a:prstGeom prst="rect">
            <a:avLst/>
          </a:prstGeom>
          <a:noFill/>
        </p:spPr>
        <p:txBody>
          <a:bodyPr wrap="square" lIns="0" rIns="0" tIns="0" bIns="0" anchor="t">
            <a:noAutofit/>
          </a:bodyPr>
          <a:lstStyle/>
          <a:p>
            <a:pPr algn="l">
              <a:spcAft>
                <a:spcPts val="600"/>
              </a:spcAft>
            </a:pPr>
            <a:r>
              <a:rPr sz="2600" b="0" i="0">
                <a:solidFill>
                  <a:srgbClr val="421E0F"/>
                </a:solidFill>
                <a:latin typeface="Barlow"/>
              </a:rPr>
              <a:t>Santiago Nicolás Blacio Quimis · Frank Emilson Cárdenas Figueroa</a:t>
            </a:r>
          </a:p>
          <a:p>
            <a:pPr algn="l">
              <a:spcAft>
                <a:spcPts val="600"/>
              </a:spcAft>
            </a:pPr>
            <a:r>
              <a:rPr sz="2600" b="0" i="0">
                <a:solidFill>
                  <a:srgbClr val="421E0F"/>
                </a:solidFill>
                <a:latin typeface="Barlow"/>
              </a:rPr>
              <a:t>Universidad Técnica de Machala · Ing. Cartuche · 25 de octubre de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4" id="4"/>
          <p:cNvGrpSpPr/>
          <p:nvPr/>
        </p:nvGrpSpPr>
        <p:grpSpPr>
          <a:xfrm rot="5400000">
            <a:off x="13144500" y="4057512"/>
            <a:ext cx="10287000" cy="2171976"/>
            <a:chOff x="0" y="0"/>
            <a:chExt cx="735852" cy="155366"/>
          </a:xfrm>
        </p:grpSpPr>
        <p:sp>
          <p:nvSpPr>
            <p:cNvPr name="Freeform 5" id="5"/>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6" id="6"/>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7" name="Título"/>
          <p:cNvSpPr txBox="1"/>
          <p:nvPr/>
        </p:nvSpPr>
        <p:spPr>
          <a:xfrm>
            <a:off x="1005840" y="731520"/>
            <a:ext cx="15087600" cy="1280160"/>
          </a:xfrm>
          <a:prstGeom prst="rect">
            <a:avLst/>
          </a:prstGeom>
          <a:noFill/>
        </p:spPr>
        <p:txBody>
          <a:bodyPr wrap="square" lIns="0" rIns="0" tIns="0" bIns="0" anchor="b">
            <a:noAutofit/>
          </a:bodyPr>
          <a:lstStyle/>
          <a:p>
            <a:pPr algn="l"/>
            <a:r>
              <a:rPr sz="5400" b="1" i="0">
                <a:solidFill>
                  <a:srgbClr val="421E0F"/>
                </a:solidFill>
                <a:latin typeface="Cormorant Garamond Bold"/>
              </a:rPr>
              <a:t>El problema de la empresa y la propuesta</a:t>
            </a:r>
          </a:p>
        </p:txBody>
      </p:sp>
      <p:sp>
        <p:nvSpPr>
          <p:cNvPr id="8" name="TextBox 7"/>
          <p:cNvSpPr txBox="1"/>
          <p:nvPr/>
        </p:nvSpPr>
        <p:spPr>
          <a:xfrm>
            <a:off x="1005840" y="2240280"/>
            <a:ext cx="6035040" cy="457200"/>
          </a:xfrm>
          <a:prstGeom prst="rect">
            <a:avLst/>
          </a:prstGeom>
          <a:noFill/>
        </p:spPr>
        <p:txBody>
          <a:bodyPr wrap="square" lIns="0" rIns="0" tIns="0" bIns="0" anchor="t">
            <a:noAutofit/>
          </a:bodyPr>
          <a:lstStyle/>
          <a:p>
            <a:pPr algn="l"/>
            <a:r>
              <a:rPr sz="2200" b="1" i="0">
                <a:solidFill>
                  <a:srgbClr val="6D3720"/>
                </a:solidFill>
                <a:latin typeface="Barlow"/>
              </a:rPr>
              <a:t>PROBLEMA</a:t>
            </a:r>
          </a:p>
        </p:txBody>
      </p:sp>
      <p:sp>
        <p:nvSpPr>
          <p:cNvPr id="9" name="TextBox 8"/>
          <p:cNvSpPr txBox="1"/>
          <p:nvPr/>
        </p:nvSpPr>
        <p:spPr>
          <a:xfrm>
            <a:off x="8229600" y="2240280"/>
            <a:ext cx="7315200" cy="457200"/>
          </a:xfrm>
          <a:prstGeom prst="rect">
            <a:avLst/>
          </a:prstGeom>
          <a:noFill/>
        </p:spPr>
        <p:txBody>
          <a:bodyPr wrap="square" lIns="0" rIns="0" tIns="0" bIns="0" anchor="t">
            <a:noAutofit/>
          </a:bodyPr>
          <a:lstStyle/>
          <a:p>
            <a:pPr algn="l"/>
            <a:r>
              <a:rPr sz="2200" b="1" i="0">
                <a:solidFill>
                  <a:srgbClr val="6D3720"/>
                </a:solidFill>
                <a:latin typeface="Barlow"/>
              </a:rPr>
              <a:t>PROPUESTA</a:t>
            </a:r>
          </a:p>
        </p:txBody>
      </p:sp>
      <p:sp>
        <p:nvSpPr>
          <p:cNvPr id="10" name="Rectangle 9"/>
          <p:cNvSpPr/>
          <p:nvPr/>
        </p:nvSpPr>
        <p:spPr>
          <a:xfrm>
            <a:off x="1005840" y="2743200"/>
            <a:ext cx="60350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743200"/>
            <a:ext cx="5394960" cy="1097280"/>
          </a:xfrm>
          <a:prstGeom prst="rect">
            <a:avLst/>
          </a:prstGeom>
          <a:noFill/>
        </p:spPr>
        <p:txBody>
          <a:bodyPr wrap="square" lIns="0" rIns="0" tIns="0" bIns="0" anchor="ctr">
            <a:noAutofit/>
          </a:bodyPr>
          <a:lstStyle/>
          <a:p>
            <a:pPr algn="l"/>
            <a:r>
              <a:rPr sz="3000" b="1" i="0">
                <a:solidFill>
                  <a:srgbClr val="FFFFFF"/>
                </a:solidFill>
                <a:latin typeface="Barlow"/>
              </a:rPr>
              <a:t>Versiones perdidas</a:t>
            </a:r>
          </a:p>
        </p:txBody>
      </p:sp>
      <p:sp>
        <p:nvSpPr>
          <p:cNvPr id="12" name="Right Arrow 11"/>
          <p:cNvSpPr/>
          <p:nvPr/>
        </p:nvSpPr>
        <p:spPr>
          <a:xfrm>
            <a:off x="7269480" y="3108960"/>
            <a:ext cx="731520" cy="365760"/>
          </a:xfrm>
          <a:prstGeom prst="rightArrow">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743200"/>
            <a:ext cx="786384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2743200"/>
            <a:ext cx="7223760" cy="1097280"/>
          </a:xfrm>
          <a:prstGeom prst="rect">
            <a:avLst/>
          </a:prstGeom>
          <a:noFill/>
        </p:spPr>
        <p:txBody>
          <a:bodyPr wrap="square" lIns="0" rIns="0" tIns="0" bIns="0" anchor="ctr">
            <a:noAutofit/>
          </a:bodyPr>
          <a:lstStyle/>
          <a:p>
            <a:pPr algn="l"/>
            <a:r>
              <a:rPr sz="2800" b="0" i="0">
                <a:solidFill>
                  <a:srgbClr val="421E0F"/>
                </a:solidFill>
                <a:latin typeface="Barlow"/>
              </a:rPr>
              <a:t>Git y ramas con cambios identificables</a:t>
            </a:r>
          </a:p>
        </p:txBody>
      </p:sp>
      <p:sp>
        <p:nvSpPr>
          <p:cNvPr id="15" name="Rectangle 14"/>
          <p:cNvSpPr/>
          <p:nvPr/>
        </p:nvSpPr>
        <p:spPr>
          <a:xfrm>
            <a:off x="1005840" y="4023360"/>
            <a:ext cx="60350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4023360"/>
            <a:ext cx="5394960" cy="1097280"/>
          </a:xfrm>
          <a:prstGeom prst="rect">
            <a:avLst/>
          </a:prstGeom>
          <a:noFill/>
        </p:spPr>
        <p:txBody>
          <a:bodyPr wrap="square" lIns="0" rIns="0" tIns="0" bIns="0" anchor="ctr">
            <a:noAutofit/>
          </a:bodyPr>
          <a:lstStyle/>
          <a:p>
            <a:pPr algn="l"/>
            <a:r>
              <a:rPr sz="3000" b="1" i="0">
                <a:solidFill>
                  <a:srgbClr val="FFFFFF"/>
                </a:solidFill>
                <a:latin typeface="Barlow"/>
              </a:rPr>
              <a:t>Cambios sin revisión</a:t>
            </a:r>
          </a:p>
        </p:txBody>
      </p:sp>
      <p:sp>
        <p:nvSpPr>
          <p:cNvPr id="17" name="Right Arrow 16"/>
          <p:cNvSpPr/>
          <p:nvPr/>
        </p:nvSpPr>
        <p:spPr>
          <a:xfrm>
            <a:off x="7269480" y="4389120"/>
            <a:ext cx="731520" cy="365760"/>
          </a:xfrm>
          <a:prstGeom prst="rightArrow">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4023360"/>
            <a:ext cx="786384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4023360"/>
            <a:ext cx="7223760" cy="1097280"/>
          </a:xfrm>
          <a:prstGeom prst="rect">
            <a:avLst/>
          </a:prstGeom>
          <a:noFill/>
        </p:spPr>
        <p:txBody>
          <a:bodyPr wrap="square" lIns="0" rIns="0" tIns="0" bIns="0" anchor="ctr">
            <a:noAutofit/>
          </a:bodyPr>
          <a:lstStyle/>
          <a:p>
            <a:pPr algn="l"/>
            <a:r>
              <a:rPr sz="2800" b="0" i="0">
                <a:solidFill>
                  <a:srgbClr val="421E0F"/>
                </a:solidFill>
                <a:latin typeface="Barlow"/>
              </a:rPr>
              <a:t>Pull requests y revisión del compañero</a:t>
            </a:r>
          </a:p>
        </p:txBody>
      </p:sp>
      <p:sp>
        <p:nvSpPr>
          <p:cNvPr id="20" name="Rectangle 19"/>
          <p:cNvSpPr/>
          <p:nvPr/>
        </p:nvSpPr>
        <p:spPr>
          <a:xfrm>
            <a:off x="1005840" y="5303520"/>
            <a:ext cx="60350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5303520"/>
            <a:ext cx="5394960" cy="1097280"/>
          </a:xfrm>
          <a:prstGeom prst="rect">
            <a:avLst/>
          </a:prstGeom>
          <a:noFill/>
        </p:spPr>
        <p:txBody>
          <a:bodyPr wrap="square" lIns="0" rIns="0" tIns="0" bIns="0" anchor="ctr">
            <a:noAutofit/>
          </a:bodyPr>
          <a:lstStyle/>
          <a:p>
            <a:pPr algn="l"/>
            <a:r>
              <a:rPr sz="3000" b="1" i="0">
                <a:solidFill>
                  <a:srgbClr val="FFFFFF"/>
                </a:solidFill>
                <a:latin typeface="Barlow"/>
              </a:rPr>
              <a:t>Errores en producción</a:t>
            </a:r>
          </a:p>
        </p:txBody>
      </p:sp>
      <p:sp>
        <p:nvSpPr>
          <p:cNvPr id="22" name="Right Arrow 21"/>
          <p:cNvSpPr/>
          <p:nvPr/>
        </p:nvSpPr>
        <p:spPr>
          <a:xfrm>
            <a:off x="7269480" y="5669280"/>
            <a:ext cx="731520" cy="365760"/>
          </a:xfrm>
          <a:prstGeom prst="rightArrow">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5303520"/>
            <a:ext cx="786384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49640" y="5303520"/>
            <a:ext cx="7223760" cy="1097280"/>
          </a:xfrm>
          <a:prstGeom prst="rect">
            <a:avLst/>
          </a:prstGeom>
          <a:noFill/>
        </p:spPr>
        <p:txBody>
          <a:bodyPr wrap="square" lIns="0" rIns="0" tIns="0" bIns="0" anchor="ctr">
            <a:noAutofit/>
          </a:bodyPr>
          <a:lstStyle/>
          <a:p>
            <a:pPr algn="l"/>
            <a:r>
              <a:rPr sz="2800" b="0" i="0">
                <a:solidFill>
                  <a:srgbClr val="421E0F"/>
                </a:solidFill>
                <a:latin typeface="Barlow"/>
              </a:rPr>
              <a:t>Pruebas y compilación en Actions</a:t>
            </a:r>
          </a:p>
        </p:txBody>
      </p:sp>
      <p:sp>
        <p:nvSpPr>
          <p:cNvPr id="25" name="Rectangle 24"/>
          <p:cNvSpPr/>
          <p:nvPr/>
        </p:nvSpPr>
        <p:spPr>
          <a:xfrm>
            <a:off x="1005840" y="6583679"/>
            <a:ext cx="60350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25880" y="6583679"/>
            <a:ext cx="5394960" cy="1097280"/>
          </a:xfrm>
          <a:prstGeom prst="rect">
            <a:avLst/>
          </a:prstGeom>
          <a:noFill/>
        </p:spPr>
        <p:txBody>
          <a:bodyPr wrap="square" lIns="0" rIns="0" tIns="0" bIns="0" anchor="ctr">
            <a:noAutofit/>
          </a:bodyPr>
          <a:lstStyle/>
          <a:p>
            <a:pPr algn="l"/>
            <a:r>
              <a:rPr sz="3000" b="1" i="0">
                <a:solidFill>
                  <a:srgbClr val="FFFFFF"/>
                </a:solidFill>
                <a:latin typeface="Barlow"/>
              </a:rPr>
              <a:t>Documentación insuficiente</a:t>
            </a:r>
          </a:p>
        </p:txBody>
      </p:sp>
      <p:sp>
        <p:nvSpPr>
          <p:cNvPr id="27" name="Right Arrow 26"/>
          <p:cNvSpPr/>
          <p:nvPr/>
        </p:nvSpPr>
        <p:spPr>
          <a:xfrm>
            <a:off x="7269480" y="6949440"/>
            <a:ext cx="731520" cy="365760"/>
          </a:xfrm>
          <a:prstGeom prst="rightArrow">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6583679"/>
            <a:ext cx="786384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6583679"/>
            <a:ext cx="7223760" cy="1097280"/>
          </a:xfrm>
          <a:prstGeom prst="rect">
            <a:avLst/>
          </a:prstGeom>
          <a:noFill/>
        </p:spPr>
        <p:txBody>
          <a:bodyPr wrap="square" lIns="0" rIns="0" tIns="0" bIns="0" anchor="ctr">
            <a:noAutofit/>
          </a:bodyPr>
          <a:lstStyle/>
          <a:p>
            <a:pPr algn="l"/>
            <a:r>
              <a:rPr sz="2800" b="0" i="0">
                <a:solidFill>
                  <a:srgbClr val="421E0F"/>
                </a:solidFill>
                <a:latin typeface="Barlow"/>
              </a:rPr>
              <a:t>Requisitos, contratos y criterios de aceptación</a:t>
            </a:r>
          </a:p>
        </p:txBody>
      </p:sp>
      <p:sp>
        <p:nvSpPr>
          <p:cNvPr id="30" name="Rectangle 29"/>
          <p:cNvSpPr/>
          <p:nvPr/>
        </p:nvSpPr>
        <p:spPr>
          <a:xfrm>
            <a:off x="1005840" y="7863840"/>
            <a:ext cx="60350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7863840"/>
            <a:ext cx="5394960" cy="1097280"/>
          </a:xfrm>
          <a:prstGeom prst="rect">
            <a:avLst/>
          </a:prstGeom>
          <a:noFill/>
        </p:spPr>
        <p:txBody>
          <a:bodyPr wrap="square" lIns="0" rIns="0" tIns="0" bIns="0" anchor="ctr">
            <a:noAutofit/>
          </a:bodyPr>
          <a:lstStyle/>
          <a:p>
            <a:pPr algn="l"/>
            <a:r>
              <a:rPr sz="3000" b="1" i="0">
                <a:solidFill>
                  <a:srgbClr val="FFFFFF"/>
                </a:solidFill>
                <a:latin typeface="Barlow"/>
              </a:rPr>
              <a:t>Trabajo desordenado</a:t>
            </a:r>
          </a:p>
        </p:txBody>
      </p:sp>
      <p:sp>
        <p:nvSpPr>
          <p:cNvPr id="32" name="Right Arrow 31"/>
          <p:cNvSpPr/>
          <p:nvPr/>
        </p:nvSpPr>
        <p:spPr>
          <a:xfrm>
            <a:off x="7269480" y="8229600"/>
            <a:ext cx="731520" cy="365760"/>
          </a:xfrm>
          <a:prstGeom prst="rightArrow">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0" y="7863840"/>
            <a:ext cx="786384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49640" y="7863840"/>
            <a:ext cx="7223760" cy="1097280"/>
          </a:xfrm>
          <a:prstGeom prst="rect">
            <a:avLst/>
          </a:prstGeom>
          <a:noFill/>
        </p:spPr>
        <p:txBody>
          <a:bodyPr wrap="square" lIns="0" rIns="0" tIns="0" bIns="0" anchor="ctr">
            <a:noAutofit/>
          </a:bodyPr>
          <a:lstStyle/>
          <a:p>
            <a:pPr algn="l"/>
            <a:r>
              <a:rPr sz="2800" b="0" i="0">
                <a:solidFill>
                  <a:srgbClr val="421E0F"/>
                </a:solidFill>
                <a:latin typeface="Barlow"/>
              </a:rPr>
              <a:t>Issues, Kanban y milestone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sp>
        <p:nvSpPr>
          <p:cNvPr name="AutoShape 7" id="7"/>
          <p:cNvSpPr/>
          <p:nvPr/>
        </p:nvSpPr>
        <p:spPr>
          <a:xfrm>
            <a:off x="-394459" y="3367723"/>
            <a:ext cx="8039225" cy="0"/>
          </a:xfrm>
          <a:prstGeom prst="line">
            <a:avLst/>
          </a:prstGeom>
          <a:ln cap="flat" w="38100">
            <a:solidFill>
              <a:srgbClr val="6D3720"/>
            </a:solidFill>
            <a:prstDash val="solid"/>
            <a:headEnd type="diamond" len="lg" w="lg"/>
            <a:tailEnd type="diamond" len="lg" w="lg"/>
          </a:ln>
        </p:spPr>
      </p:sp>
      <p:sp>
        <p:nvSpPr>
          <p:cNvPr id="8" name="Título"/>
          <p:cNvSpPr txBox="1"/>
          <p:nvPr/>
        </p:nvSpPr>
        <p:spPr>
          <a:xfrm>
            <a:off x="1005840" y="914400"/>
            <a:ext cx="8412480" cy="2286000"/>
          </a:xfrm>
          <a:prstGeom prst="rect">
            <a:avLst/>
          </a:prstGeom>
          <a:noFill/>
        </p:spPr>
        <p:txBody>
          <a:bodyPr wrap="square" lIns="0" rIns="0" tIns="0" bIns="0" anchor="b">
            <a:noAutofit/>
          </a:bodyPr>
          <a:lstStyle/>
          <a:p>
            <a:pPr algn="l"/>
            <a:r>
              <a:rPr sz="6000" b="1" i="0">
                <a:solidFill>
                  <a:srgbClr val="421E0F"/>
                </a:solidFill>
                <a:latin typeface="Cormorant Garamond Bold"/>
              </a:rPr>
              <a:t>Git y revisión</a:t>
            </a:r>
          </a:p>
          <a:p>
            <a:pPr algn="l"/>
            <a:r>
              <a:rPr sz="6000" b="1" i="0">
                <a:solidFill>
                  <a:srgbClr val="421E0F"/>
                </a:solidFill>
                <a:latin typeface="Cormorant Garamond Bold"/>
              </a:rPr>
              <a:t>antes de integrar</a:t>
            </a:r>
          </a:p>
        </p:txBody>
      </p:sp>
      <p:sp>
        <p:nvSpPr>
          <p:cNvPr id="9" name="Oval 8"/>
          <p:cNvSpPr/>
          <p:nvPr/>
        </p:nvSpPr>
        <p:spPr>
          <a:xfrm>
            <a:off x="1005840" y="3840479"/>
            <a:ext cx="685800" cy="68580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1</a:t>
            </a:r>
          </a:p>
        </p:txBody>
      </p:sp>
      <p:sp>
        <p:nvSpPr>
          <p:cNvPr id="10" name="TextBox 9"/>
          <p:cNvSpPr txBox="1"/>
          <p:nvPr/>
        </p:nvSpPr>
        <p:spPr>
          <a:xfrm>
            <a:off x="2011680" y="3749039"/>
            <a:ext cx="6583680" cy="1188720"/>
          </a:xfrm>
          <a:prstGeom prst="rect">
            <a:avLst/>
          </a:prstGeom>
          <a:noFill/>
        </p:spPr>
        <p:txBody>
          <a:bodyPr wrap="square" lIns="0" rIns="0" tIns="0" bIns="0" anchor="t">
            <a:noAutofit/>
          </a:bodyPr>
          <a:lstStyle/>
          <a:p>
            <a:pPr algn="l">
              <a:spcAft>
                <a:spcPts val="200"/>
              </a:spcAft>
            </a:pPr>
            <a:r>
              <a:rPr sz="3000" b="1" i="0">
                <a:solidFill>
                  <a:srgbClr val="6D3720"/>
                </a:solidFill>
                <a:latin typeface="Barlow"/>
              </a:rPr>
              <a:t>main</a:t>
            </a:r>
          </a:p>
          <a:p>
            <a:pPr algn="l">
              <a:spcAft>
                <a:spcPts val="200"/>
              </a:spcAft>
            </a:pPr>
            <a:r>
              <a:rPr sz="2800" b="0" i="0">
                <a:solidFill>
                  <a:srgbClr val="421E0F"/>
                </a:solidFill>
                <a:latin typeface="Barlow"/>
              </a:rPr>
              <a:t>conserva la base.</a:t>
            </a:r>
          </a:p>
        </p:txBody>
      </p:sp>
      <p:sp>
        <p:nvSpPr>
          <p:cNvPr id="11" name="Oval 10"/>
          <p:cNvSpPr/>
          <p:nvPr/>
        </p:nvSpPr>
        <p:spPr>
          <a:xfrm>
            <a:off x="1005840" y="5166359"/>
            <a:ext cx="685800" cy="68580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2</a:t>
            </a:r>
          </a:p>
        </p:txBody>
      </p:sp>
      <p:sp>
        <p:nvSpPr>
          <p:cNvPr id="12" name="TextBox 11"/>
          <p:cNvSpPr txBox="1"/>
          <p:nvPr/>
        </p:nvSpPr>
        <p:spPr>
          <a:xfrm>
            <a:off x="2011680" y="5074920"/>
            <a:ext cx="6583680" cy="1188720"/>
          </a:xfrm>
          <a:prstGeom prst="rect">
            <a:avLst/>
          </a:prstGeom>
          <a:noFill/>
        </p:spPr>
        <p:txBody>
          <a:bodyPr wrap="square" lIns="0" rIns="0" tIns="0" bIns="0" anchor="t">
            <a:noAutofit/>
          </a:bodyPr>
          <a:lstStyle/>
          <a:p>
            <a:pPr algn="l">
              <a:spcAft>
                <a:spcPts val="200"/>
              </a:spcAft>
            </a:pPr>
            <a:r>
              <a:rPr sz="3000" b="1" i="0">
                <a:solidFill>
                  <a:srgbClr val="6D3720"/>
                </a:solidFill>
                <a:latin typeface="Barlow"/>
              </a:rPr>
              <a:t>feature/gestor-incidencias</a:t>
            </a:r>
          </a:p>
          <a:p>
            <a:pPr algn="l">
              <a:spcAft>
                <a:spcPts val="200"/>
              </a:spcAft>
            </a:pPr>
            <a:r>
              <a:rPr sz="2800" b="0" i="0">
                <a:solidFill>
                  <a:srgbClr val="421E0F"/>
                </a:solidFill>
                <a:latin typeface="Barlow"/>
              </a:rPr>
              <a:t>reúne la implementación.</a:t>
            </a:r>
          </a:p>
        </p:txBody>
      </p:sp>
      <p:sp>
        <p:nvSpPr>
          <p:cNvPr id="13" name="Oval 12"/>
          <p:cNvSpPr/>
          <p:nvPr/>
        </p:nvSpPr>
        <p:spPr>
          <a:xfrm>
            <a:off x="1005840" y="6492240"/>
            <a:ext cx="685800" cy="68580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3</a:t>
            </a:r>
          </a:p>
        </p:txBody>
      </p:sp>
      <p:sp>
        <p:nvSpPr>
          <p:cNvPr id="14" name="TextBox 13"/>
          <p:cNvSpPr txBox="1"/>
          <p:nvPr/>
        </p:nvSpPr>
        <p:spPr>
          <a:xfrm>
            <a:off x="2011680" y="6400800"/>
            <a:ext cx="6583680" cy="1188720"/>
          </a:xfrm>
          <a:prstGeom prst="rect">
            <a:avLst/>
          </a:prstGeom>
          <a:noFill/>
        </p:spPr>
        <p:txBody>
          <a:bodyPr wrap="square" lIns="0" rIns="0" tIns="0" bIns="0" anchor="t">
            <a:noAutofit/>
          </a:bodyPr>
          <a:lstStyle/>
          <a:p>
            <a:pPr algn="l">
              <a:spcAft>
                <a:spcPts val="200"/>
              </a:spcAft>
            </a:pPr>
            <a:r>
              <a:rPr sz="3000" b="1" i="0">
                <a:solidFill>
                  <a:srgbClr val="6D3720"/>
                </a:solidFill>
                <a:latin typeface="Barlow"/>
              </a:rPr>
              <a:t>PR #1 en borrador</a:t>
            </a:r>
          </a:p>
          <a:p>
            <a:pPr algn="l">
              <a:spcAft>
                <a:spcPts val="200"/>
              </a:spcAft>
            </a:pPr>
            <a:r>
              <a:rPr sz="2800" b="0" i="0">
                <a:solidFill>
                  <a:srgbClr val="421E0F"/>
                </a:solidFill>
                <a:latin typeface="Barlow"/>
              </a:rPr>
              <a:t>revisión del compañero pendiente.</a:t>
            </a:r>
          </a:p>
        </p:txBody>
      </p:sp>
      <p:pic>
        <p:nvPicPr>
          <p:cNvPr id="15" name="Picture 14" descr="Pull request #1 en GitHub, en borrador"/>
          <p:cNvPicPr>
            <a:picLocks noChangeAspect="1"/>
          </p:cNvPicPr>
          <p:nvPr/>
        </p:nvPicPr>
        <p:blipFill>
          <a:blip r:embed="rId3"/>
          <a:stretch>
            <a:fillRect/>
          </a:stretch>
        </p:blipFill>
        <p:spPr>
          <a:xfrm>
            <a:off x="9144000" y="2377440"/>
            <a:ext cx="7315200" cy="4117330"/>
          </a:xfrm>
          <a:prstGeom prst="rect">
            <a:avLst/>
          </a:prstGeom>
          <a:ln w="31750">
            <a:solidFill>
              <a:srgbClr val="6D3720"/>
            </a:solidFill>
          </a:ln>
        </p:spPr>
      </p:pic>
      <p:sp>
        <p:nvSpPr>
          <p:cNvPr id="16" name="Rectangle 15"/>
          <p:cNvSpPr/>
          <p:nvPr/>
        </p:nvSpPr>
        <p:spPr>
          <a:xfrm>
            <a:off x="1005840" y="8229600"/>
            <a:ext cx="15453359" cy="118872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8229600"/>
            <a:ext cx="14721840" cy="1188720"/>
          </a:xfrm>
          <a:prstGeom prst="rect">
            <a:avLst/>
          </a:prstGeom>
          <a:noFill/>
        </p:spPr>
        <p:txBody>
          <a:bodyPr wrap="square" lIns="0" rIns="0" tIns="0" bIns="0" anchor="ctr">
            <a:noAutofit/>
          </a:bodyPr>
          <a:lstStyle/>
          <a:p>
            <a:pPr algn="l"/>
            <a:r>
              <a:rPr sz="3000" b="1" i="0">
                <a:solidFill>
                  <a:srgbClr val="FFFFFF"/>
                </a:solidFill>
                <a:latin typeface="Barlow"/>
              </a:rPr>
              <a:t>Git Flow organiza versiones. Trunk Based favorece integraciones breves.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sp>
        <p:nvSpPr>
          <p:cNvPr name="AutoShape 11" id="11"/>
          <p:cNvSpPr/>
          <p:nvPr/>
        </p:nvSpPr>
        <p:spPr>
          <a:xfrm>
            <a:off x="-394459" y="2311260"/>
            <a:ext cx="9916504" cy="0"/>
          </a:xfrm>
          <a:prstGeom prst="line">
            <a:avLst/>
          </a:prstGeom>
          <a:ln cap="flat" w="38100">
            <a:solidFill>
              <a:srgbClr val="6D3720"/>
            </a:solidFill>
            <a:prstDash val="solid"/>
            <a:headEnd type="diamond" len="lg" w="lg"/>
            <a:tailEnd type="diamond" len="lg" w="lg"/>
          </a:ln>
        </p:spPr>
      </p:sp>
      <p:grpSp>
        <p:nvGrpSpPr>
          <p:cNvPr name="Group 12" id="12"/>
          <p:cNvGrpSpPr/>
          <p:nvPr/>
        </p:nvGrpSpPr>
        <p:grpSpPr>
          <a:xfrm rot="5400000">
            <a:off x="13144500" y="4057512"/>
            <a:ext cx="10287000" cy="2171976"/>
            <a:chOff x="0" y="0"/>
            <a:chExt cx="735852" cy="155366"/>
          </a:xfrm>
        </p:grpSpPr>
        <p:sp>
          <p:nvSpPr>
            <p:cNvPr name="Freeform 13" id="13"/>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14" id="14"/>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15" name="Título"/>
          <p:cNvSpPr txBox="1"/>
          <p:nvPr/>
        </p:nvSpPr>
        <p:spPr>
          <a:xfrm>
            <a:off x="1005840" y="457200"/>
            <a:ext cx="15087600" cy="1691640"/>
          </a:xfrm>
          <a:prstGeom prst="rect">
            <a:avLst/>
          </a:prstGeom>
          <a:noFill/>
        </p:spPr>
        <p:txBody>
          <a:bodyPr wrap="square" lIns="0" rIns="0" tIns="0" bIns="0" anchor="b">
            <a:noAutofit/>
          </a:bodyPr>
          <a:lstStyle/>
          <a:p>
            <a:pPr algn="l"/>
            <a:r>
              <a:rPr sz="5400" b="1" i="0">
                <a:solidFill>
                  <a:srgbClr val="421E0F"/>
                </a:solidFill>
                <a:latin typeface="Cormorant Garamond Bold"/>
              </a:rPr>
              <a:t>SDD: la especificación dirige el trabajo</a:t>
            </a:r>
          </a:p>
        </p:txBody>
      </p:sp>
      <p:sp>
        <p:nvSpPr>
          <p:cNvPr id="16" name="Rectangle 15"/>
          <p:cNvSpPr/>
          <p:nvPr/>
        </p:nvSpPr>
        <p:spPr>
          <a:xfrm>
            <a:off x="1005840" y="2743200"/>
            <a:ext cx="4846320" cy="29260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2971800"/>
            <a:ext cx="1828800" cy="914400"/>
          </a:xfrm>
          <a:prstGeom prst="rect">
            <a:avLst/>
          </a:prstGeom>
          <a:noFill/>
        </p:spPr>
        <p:txBody>
          <a:bodyPr wrap="square" lIns="0" rIns="0" tIns="0" bIns="0" anchor="t">
            <a:noAutofit/>
          </a:bodyPr>
          <a:lstStyle/>
          <a:p>
            <a:pPr algn="l"/>
            <a:r>
              <a:rPr sz="5400" b="1" i="0">
                <a:solidFill>
                  <a:srgbClr val="6D3720"/>
                </a:solidFill>
                <a:latin typeface="Cormorant Garamond Bold"/>
              </a:rPr>
              <a:t>01</a:t>
            </a:r>
          </a:p>
        </p:txBody>
      </p:sp>
      <p:sp>
        <p:nvSpPr>
          <p:cNvPr id="18" name="TextBox 17"/>
          <p:cNvSpPr txBox="1"/>
          <p:nvPr/>
        </p:nvSpPr>
        <p:spPr>
          <a:xfrm>
            <a:off x="1371600" y="3931920"/>
            <a:ext cx="4114800" cy="640080"/>
          </a:xfrm>
          <a:prstGeom prst="rect">
            <a:avLst/>
          </a:prstGeom>
          <a:noFill/>
        </p:spPr>
        <p:txBody>
          <a:bodyPr wrap="square" lIns="0" rIns="0" tIns="0" bIns="0" anchor="t">
            <a:noAutofit/>
          </a:bodyPr>
          <a:lstStyle/>
          <a:p>
            <a:pPr algn="l"/>
            <a:r>
              <a:rPr sz="3200" b="1" i="0">
                <a:solidFill>
                  <a:srgbClr val="421E0F"/>
                </a:solidFill>
                <a:latin typeface="Barlow"/>
              </a:rPr>
              <a:t>Requerimientos</a:t>
            </a:r>
          </a:p>
        </p:txBody>
      </p:sp>
      <p:sp>
        <p:nvSpPr>
          <p:cNvPr id="19" name="TextBox 18"/>
          <p:cNvSpPr txBox="1"/>
          <p:nvPr/>
        </p:nvSpPr>
        <p:spPr>
          <a:xfrm>
            <a:off x="1371600" y="4572000"/>
            <a:ext cx="4114800" cy="914400"/>
          </a:xfrm>
          <a:prstGeom prst="rect">
            <a:avLst/>
          </a:prstGeom>
          <a:noFill/>
        </p:spPr>
        <p:txBody>
          <a:bodyPr wrap="square" lIns="0" rIns="0" tIns="0" bIns="0" anchor="t">
            <a:noAutofit/>
          </a:bodyPr>
          <a:lstStyle/>
          <a:p>
            <a:pPr algn="l"/>
            <a:r>
              <a:rPr sz="2600" b="1" i="0">
                <a:solidFill>
                  <a:srgbClr val="6D3720"/>
                </a:solidFill>
                <a:latin typeface="Barlow"/>
              </a:rPr>
              <a:t>requirements.md</a:t>
            </a:r>
            <a:r>
              <a:rPr sz="2600" b="0" i="0">
                <a:solidFill>
                  <a:srgbClr val="421E0F"/>
                </a:solidFill>
                <a:latin typeface="Barlow"/>
              </a:rPr>
              <a:t> necesidades y reglas</a:t>
            </a:r>
          </a:p>
        </p:txBody>
      </p:sp>
      <p:sp>
        <p:nvSpPr>
          <p:cNvPr id="20" name="Rectangle 19"/>
          <p:cNvSpPr/>
          <p:nvPr/>
        </p:nvSpPr>
        <p:spPr>
          <a:xfrm>
            <a:off x="6172200" y="2743200"/>
            <a:ext cx="4846320" cy="29260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2971800"/>
            <a:ext cx="1828800" cy="914400"/>
          </a:xfrm>
          <a:prstGeom prst="rect">
            <a:avLst/>
          </a:prstGeom>
          <a:noFill/>
        </p:spPr>
        <p:txBody>
          <a:bodyPr wrap="square" lIns="0" rIns="0" tIns="0" bIns="0" anchor="t">
            <a:noAutofit/>
          </a:bodyPr>
          <a:lstStyle/>
          <a:p>
            <a:pPr algn="l"/>
            <a:r>
              <a:rPr sz="5400" b="1" i="0">
                <a:solidFill>
                  <a:srgbClr val="6D3720"/>
                </a:solidFill>
                <a:latin typeface="Cormorant Garamond Bold"/>
              </a:rPr>
              <a:t>02</a:t>
            </a:r>
          </a:p>
        </p:txBody>
      </p:sp>
      <p:sp>
        <p:nvSpPr>
          <p:cNvPr id="22" name="TextBox 21"/>
          <p:cNvSpPr txBox="1"/>
          <p:nvPr/>
        </p:nvSpPr>
        <p:spPr>
          <a:xfrm>
            <a:off x="6537960" y="3931920"/>
            <a:ext cx="4114800" cy="640080"/>
          </a:xfrm>
          <a:prstGeom prst="rect">
            <a:avLst/>
          </a:prstGeom>
          <a:noFill/>
        </p:spPr>
        <p:txBody>
          <a:bodyPr wrap="square" lIns="0" rIns="0" tIns="0" bIns="0" anchor="t">
            <a:noAutofit/>
          </a:bodyPr>
          <a:lstStyle/>
          <a:p>
            <a:pPr algn="l"/>
            <a:r>
              <a:rPr sz="3200" b="1" i="0">
                <a:solidFill>
                  <a:srgbClr val="421E0F"/>
                </a:solidFill>
                <a:latin typeface="Barlow"/>
              </a:rPr>
              <a:t>Especificación</a:t>
            </a:r>
          </a:p>
        </p:txBody>
      </p:sp>
      <p:sp>
        <p:nvSpPr>
          <p:cNvPr id="23" name="TextBox 22"/>
          <p:cNvSpPr txBox="1"/>
          <p:nvPr/>
        </p:nvSpPr>
        <p:spPr>
          <a:xfrm>
            <a:off x="6537960" y="4572000"/>
            <a:ext cx="4114800" cy="914400"/>
          </a:xfrm>
          <a:prstGeom prst="rect">
            <a:avLst/>
          </a:prstGeom>
          <a:noFill/>
        </p:spPr>
        <p:txBody>
          <a:bodyPr wrap="square" lIns="0" rIns="0" tIns="0" bIns="0" anchor="t">
            <a:noAutofit/>
          </a:bodyPr>
          <a:lstStyle/>
          <a:p>
            <a:pPr algn="l"/>
            <a:r>
              <a:rPr sz="2600" b="1" i="0">
                <a:solidFill>
                  <a:srgbClr val="6D3720"/>
                </a:solidFill>
                <a:latin typeface="Barlow"/>
              </a:rPr>
              <a:t>spec.md</a:t>
            </a:r>
            <a:r>
              <a:rPr sz="2600" b="0" i="0">
                <a:solidFill>
                  <a:srgbClr val="421E0F"/>
                </a:solidFill>
                <a:latin typeface="Barlow"/>
              </a:rPr>
              <a:t> contratos y aceptación</a:t>
            </a:r>
          </a:p>
        </p:txBody>
      </p:sp>
      <p:sp>
        <p:nvSpPr>
          <p:cNvPr id="24" name="Rectangle 23"/>
          <p:cNvSpPr/>
          <p:nvPr/>
        </p:nvSpPr>
        <p:spPr>
          <a:xfrm>
            <a:off x="11338560" y="2743200"/>
            <a:ext cx="4846320" cy="29260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04320" y="2971800"/>
            <a:ext cx="1828800" cy="914400"/>
          </a:xfrm>
          <a:prstGeom prst="rect">
            <a:avLst/>
          </a:prstGeom>
          <a:noFill/>
        </p:spPr>
        <p:txBody>
          <a:bodyPr wrap="square" lIns="0" rIns="0" tIns="0" bIns="0" anchor="t">
            <a:noAutofit/>
          </a:bodyPr>
          <a:lstStyle/>
          <a:p>
            <a:pPr algn="l"/>
            <a:r>
              <a:rPr sz="5400" b="1" i="0">
                <a:solidFill>
                  <a:srgbClr val="6D3720"/>
                </a:solidFill>
                <a:latin typeface="Cormorant Garamond Bold"/>
              </a:rPr>
              <a:t>03</a:t>
            </a:r>
          </a:p>
        </p:txBody>
      </p:sp>
      <p:sp>
        <p:nvSpPr>
          <p:cNvPr id="26" name="TextBox 25"/>
          <p:cNvSpPr txBox="1"/>
          <p:nvPr/>
        </p:nvSpPr>
        <p:spPr>
          <a:xfrm>
            <a:off x="11704320" y="3931920"/>
            <a:ext cx="4114800" cy="640080"/>
          </a:xfrm>
          <a:prstGeom prst="rect">
            <a:avLst/>
          </a:prstGeom>
          <a:noFill/>
        </p:spPr>
        <p:txBody>
          <a:bodyPr wrap="square" lIns="0" rIns="0" tIns="0" bIns="0" anchor="t">
            <a:noAutofit/>
          </a:bodyPr>
          <a:lstStyle/>
          <a:p>
            <a:pPr algn="l"/>
            <a:r>
              <a:rPr sz="3200" b="1" i="0">
                <a:solidFill>
                  <a:srgbClr val="421E0F"/>
                </a:solidFill>
                <a:latin typeface="Barlow"/>
              </a:rPr>
              <a:t>Plan técnico</a:t>
            </a:r>
          </a:p>
        </p:txBody>
      </p:sp>
      <p:sp>
        <p:nvSpPr>
          <p:cNvPr id="27" name="TextBox 26"/>
          <p:cNvSpPr txBox="1"/>
          <p:nvPr/>
        </p:nvSpPr>
        <p:spPr>
          <a:xfrm>
            <a:off x="11704320" y="4572000"/>
            <a:ext cx="4114800" cy="914400"/>
          </a:xfrm>
          <a:prstGeom prst="rect">
            <a:avLst/>
          </a:prstGeom>
          <a:noFill/>
        </p:spPr>
        <p:txBody>
          <a:bodyPr wrap="square" lIns="0" rIns="0" tIns="0" bIns="0" anchor="t">
            <a:noAutofit/>
          </a:bodyPr>
          <a:lstStyle/>
          <a:p>
            <a:pPr algn="l"/>
            <a:r>
              <a:rPr sz="2600" b="1" i="0">
                <a:solidFill>
                  <a:srgbClr val="6D3720"/>
                </a:solidFill>
                <a:latin typeface="Barlow"/>
              </a:rPr>
              <a:t>plan.md</a:t>
            </a:r>
            <a:r>
              <a:rPr sz="2600" b="0" i="0">
                <a:solidFill>
                  <a:srgbClr val="421E0F"/>
                </a:solidFill>
                <a:latin typeface="Barlow"/>
              </a:rPr>
              <a:t> arquitectura y tareas</a:t>
            </a:r>
          </a:p>
        </p:txBody>
      </p:sp>
      <p:sp>
        <p:nvSpPr>
          <p:cNvPr id="28" name="Rectangle 27"/>
          <p:cNvSpPr/>
          <p:nvPr/>
        </p:nvSpPr>
        <p:spPr>
          <a:xfrm>
            <a:off x="1005840" y="5989320"/>
            <a:ext cx="4846320" cy="29260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0" y="6217920"/>
            <a:ext cx="1828800" cy="914400"/>
          </a:xfrm>
          <a:prstGeom prst="rect">
            <a:avLst/>
          </a:prstGeom>
          <a:noFill/>
        </p:spPr>
        <p:txBody>
          <a:bodyPr wrap="square" lIns="0" rIns="0" tIns="0" bIns="0" anchor="t">
            <a:noAutofit/>
          </a:bodyPr>
          <a:lstStyle/>
          <a:p>
            <a:pPr algn="l"/>
            <a:r>
              <a:rPr sz="5400" b="1" i="0">
                <a:solidFill>
                  <a:srgbClr val="6D3720"/>
                </a:solidFill>
                <a:latin typeface="Cormorant Garamond Bold"/>
              </a:rPr>
              <a:t>04</a:t>
            </a:r>
          </a:p>
        </p:txBody>
      </p:sp>
      <p:sp>
        <p:nvSpPr>
          <p:cNvPr id="30" name="TextBox 29"/>
          <p:cNvSpPr txBox="1"/>
          <p:nvPr/>
        </p:nvSpPr>
        <p:spPr>
          <a:xfrm>
            <a:off x="1371600" y="7178040"/>
            <a:ext cx="4114800" cy="640080"/>
          </a:xfrm>
          <a:prstGeom prst="rect">
            <a:avLst/>
          </a:prstGeom>
          <a:noFill/>
        </p:spPr>
        <p:txBody>
          <a:bodyPr wrap="square" lIns="0" rIns="0" tIns="0" bIns="0" anchor="t">
            <a:noAutofit/>
          </a:bodyPr>
          <a:lstStyle/>
          <a:p>
            <a:pPr algn="l"/>
            <a:r>
              <a:rPr sz="3200" b="1" i="0">
                <a:solidFill>
                  <a:srgbClr val="421E0F"/>
                </a:solidFill>
                <a:latin typeface="Barlow"/>
              </a:rPr>
              <a:t>Implementación</a:t>
            </a:r>
          </a:p>
        </p:txBody>
      </p:sp>
      <p:sp>
        <p:nvSpPr>
          <p:cNvPr id="31" name="TextBox 30"/>
          <p:cNvSpPr txBox="1"/>
          <p:nvPr/>
        </p:nvSpPr>
        <p:spPr>
          <a:xfrm>
            <a:off x="1371600" y="7818120"/>
            <a:ext cx="4114800" cy="914400"/>
          </a:xfrm>
          <a:prstGeom prst="rect">
            <a:avLst/>
          </a:prstGeom>
          <a:noFill/>
        </p:spPr>
        <p:txBody>
          <a:bodyPr wrap="square" lIns="0" rIns="0" tIns="0" bIns="0" anchor="t">
            <a:noAutofit/>
          </a:bodyPr>
          <a:lstStyle/>
          <a:p>
            <a:pPr algn="l"/>
            <a:r>
              <a:rPr sz="2600" b="1" i="0">
                <a:solidFill>
                  <a:srgbClr val="6D3720"/>
                </a:solidFill>
                <a:latin typeface="Barlow"/>
              </a:rPr>
              <a:t>Copilot</a:t>
            </a:r>
            <a:r>
              <a:rPr sz="2600" b="0" i="0">
                <a:solidFill>
                  <a:srgbClr val="421E0F"/>
                </a:solidFill>
                <a:latin typeface="Barlow"/>
              </a:rPr>
              <a:t> genera los componentes</a:t>
            </a:r>
          </a:p>
        </p:txBody>
      </p:sp>
      <p:sp>
        <p:nvSpPr>
          <p:cNvPr id="32" name="Rectangle 31"/>
          <p:cNvSpPr/>
          <p:nvPr/>
        </p:nvSpPr>
        <p:spPr>
          <a:xfrm>
            <a:off x="6172200" y="5989320"/>
            <a:ext cx="4846320" cy="29260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6217920"/>
            <a:ext cx="1828800" cy="914400"/>
          </a:xfrm>
          <a:prstGeom prst="rect">
            <a:avLst/>
          </a:prstGeom>
          <a:noFill/>
        </p:spPr>
        <p:txBody>
          <a:bodyPr wrap="square" lIns="0" rIns="0" tIns="0" bIns="0" anchor="t">
            <a:noAutofit/>
          </a:bodyPr>
          <a:lstStyle/>
          <a:p>
            <a:pPr algn="l"/>
            <a:r>
              <a:rPr sz="5400" b="1" i="0">
                <a:solidFill>
                  <a:srgbClr val="6D3720"/>
                </a:solidFill>
                <a:latin typeface="Cormorant Garamond Bold"/>
              </a:rPr>
              <a:t>05</a:t>
            </a:r>
          </a:p>
        </p:txBody>
      </p:sp>
      <p:sp>
        <p:nvSpPr>
          <p:cNvPr id="34" name="TextBox 33"/>
          <p:cNvSpPr txBox="1"/>
          <p:nvPr/>
        </p:nvSpPr>
        <p:spPr>
          <a:xfrm>
            <a:off x="6537960" y="7178040"/>
            <a:ext cx="4114800" cy="640080"/>
          </a:xfrm>
          <a:prstGeom prst="rect">
            <a:avLst/>
          </a:prstGeom>
          <a:noFill/>
        </p:spPr>
        <p:txBody>
          <a:bodyPr wrap="square" lIns="0" rIns="0" tIns="0" bIns="0" anchor="t">
            <a:noAutofit/>
          </a:bodyPr>
          <a:lstStyle/>
          <a:p>
            <a:pPr algn="l"/>
            <a:r>
              <a:rPr sz="3200" b="1" i="0">
                <a:solidFill>
                  <a:srgbClr val="421E0F"/>
                </a:solidFill>
                <a:latin typeface="Barlow"/>
              </a:rPr>
              <a:t>Verificación</a:t>
            </a:r>
          </a:p>
        </p:txBody>
      </p:sp>
      <p:sp>
        <p:nvSpPr>
          <p:cNvPr id="35" name="TextBox 34"/>
          <p:cNvSpPr txBox="1"/>
          <p:nvPr/>
        </p:nvSpPr>
        <p:spPr>
          <a:xfrm>
            <a:off x="6537960" y="7818120"/>
            <a:ext cx="4114800" cy="914400"/>
          </a:xfrm>
          <a:prstGeom prst="rect">
            <a:avLst/>
          </a:prstGeom>
          <a:noFill/>
        </p:spPr>
        <p:txBody>
          <a:bodyPr wrap="square" lIns="0" rIns="0" tIns="0" bIns="0" anchor="t">
            <a:noAutofit/>
          </a:bodyPr>
          <a:lstStyle/>
          <a:p>
            <a:pPr algn="l"/>
            <a:r>
              <a:rPr sz="2600" b="1" i="0">
                <a:solidFill>
                  <a:srgbClr val="6D3720"/>
                </a:solidFill>
                <a:latin typeface="Barlow"/>
              </a:rPr>
              <a:t>Pruebas</a:t>
            </a:r>
            <a:r>
              <a:rPr sz="2600" b="0" i="0">
                <a:solidFill>
                  <a:srgbClr val="421E0F"/>
                </a:solidFill>
                <a:latin typeface="Barlow"/>
              </a:rPr>
              <a:t> y recorridos contra criterios</a:t>
            </a:r>
          </a:p>
        </p:txBody>
      </p:sp>
      <p:sp>
        <p:nvSpPr>
          <p:cNvPr id="36" name="Rectangle 35"/>
          <p:cNvSpPr/>
          <p:nvPr/>
        </p:nvSpPr>
        <p:spPr>
          <a:xfrm>
            <a:off x="11338560" y="5989320"/>
            <a:ext cx="4846320" cy="29260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704320" y="6217920"/>
            <a:ext cx="1828800" cy="914400"/>
          </a:xfrm>
          <a:prstGeom prst="rect">
            <a:avLst/>
          </a:prstGeom>
          <a:noFill/>
        </p:spPr>
        <p:txBody>
          <a:bodyPr wrap="square" lIns="0" rIns="0" tIns="0" bIns="0" anchor="t">
            <a:noAutofit/>
          </a:bodyPr>
          <a:lstStyle/>
          <a:p>
            <a:pPr algn="l"/>
            <a:r>
              <a:rPr sz="5400" b="1" i="0">
                <a:solidFill>
                  <a:srgbClr val="6D3720"/>
                </a:solidFill>
                <a:latin typeface="Cormorant Garamond Bold"/>
              </a:rPr>
              <a:t>06</a:t>
            </a:r>
          </a:p>
        </p:txBody>
      </p:sp>
      <p:sp>
        <p:nvSpPr>
          <p:cNvPr id="38" name="TextBox 37"/>
          <p:cNvSpPr txBox="1"/>
          <p:nvPr/>
        </p:nvSpPr>
        <p:spPr>
          <a:xfrm>
            <a:off x="11704320" y="7178040"/>
            <a:ext cx="4114800" cy="640080"/>
          </a:xfrm>
          <a:prstGeom prst="rect">
            <a:avLst/>
          </a:prstGeom>
          <a:noFill/>
        </p:spPr>
        <p:txBody>
          <a:bodyPr wrap="square" lIns="0" rIns="0" tIns="0" bIns="0" anchor="t">
            <a:noAutofit/>
          </a:bodyPr>
          <a:lstStyle/>
          <a:p>
            <a:pPr algn="l"/>
            <a:r>
              <a:rPr sz="3200" b="1" i="0">
                <a:solidFill>
                  <a:srgbClr val="421E0F"/>
                </a:solidFill>
                <a:latin typeface="Barlow"/>
              </a:rPr>
              <a:t>Evolución</a:t>
            </a:r>
          </a:p>
        </p:txBody>
      </p:sp>
      <p:sp>
        <p:nvSpPr>
          <p:cNvPr id="39" name="TextBox 38"/>
          <p:cNvSpPr txBox="1"/>
          <p:nvPr/>
        </p:nvSpPr>
        <p:spPr>
          <a:xfrm>
            <a:off x="11704320" y="7818120"/>
            <a:ext cx="4114800" cy="914400"/>
          </a:xfrm>
          <a:prstGeom prst="rect">
            <a:avLst/>
          </a:prstGeom>
          <a:noFill/>
        </p:spPr>
        <p:txBody>
          <a:bodyPr wrap="square" lIns="0" rIns="0" tIns="0" bIns="0" anchor="t">
            <a:noAutofit/>
          </a:bodyPr>
          <a:lstStyle/>
          <a:p>
            <a:pPr algn="l"/>
            <a:r>
              <a:rPr sz="2600" b="1" i="0">
                <a:solidFill>
                  <a:srgbClr val="6D3720"/>
                </a:solidFill>
                <a:latin typeface="Barlow"/>
              </a:rPr>
              <a:t>Prueba previa</a:t>
            </a:r>
            <a:r>
              <a:rPr sz="2600" b="0" i="0">
                <a:solidFill>
                  <a:srgbClr val="421E0F"/>
                </a:solidFill>
                <a:latin typeface="Barlow"/>
              </a:rPr>
              <a:t> y corrección trazable</a:t>
            </a:r>
          </a:p>
        </p:txBody>
      </p:sp>
      <p:sp>
        <p:nvSpPr>
          <p:cNvPr id="40" name="TextBox 39"/>
          <p:cNvSpPr txBox="1"/>
          <p:nvPr/>
        </p:nvSpPr>
        <p:spPr>
          <a:xfrm>
            <a:off x="1005840" y="9281160"/>
            <a:ext cx="15087600" cy="548640"/>
          </a:xfrm>
          <a:prstGeom prst="rect">
            <a:avLst/>
          </a:prstGeom>
          <a:noFill/>
        </p:spPr>
        <p:txBody>
          <a:bodyPr wrap="square" lIns="0" rIns="0" tIns="0" bIns="0" anchor="t">
            <a:noAutofit/>
          </a:bodyPr>
          <a:lstStyle/>
          <a:p>
            <a:pPr algn="l"/>
            <a:r>
              <a:rPr sz="2400" b="0" i="0">
                <a:solidFill>
                  <a:srgbClr val="6D3720"/>
                </a:solidFill>
                <a:latin typeface="Barlow"/>
              </a:rPr>
              <a:t>GitHub Spec Kit investigado. Su CLI no se ejecutó en este caso.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5" id="5"/>
          <p:cNvGrpSpPr/>
          <p:nvPr/>
        </p:nvGrpSpPr>
        <p:grpSpPr>
          <a:xfrm rot="5400000">
            <a:off x="-5200788" y="4057512"/>
            <a:ext cx="10287000" cy="2171976"/>
            <a:chOff x="0" y="0"/>
            <a:chExt cx="735852" cy="155366"/>
          </a:xfrm>
        </p:grpSpPr>
        <p:sp>
          <p:nvSpPr>
            <p:cNvPr name="Freeform 6" id="6"/>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6D3720"/>
            </a:solidFill>
          </p:spPr>
        </p:sp>
        <p:sp>
          <p:nvSpPr>
            <p:cNvPr name="TextBox 7" id="7"/>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8" name="Título"/>
          <p:cNvSpPr txBox="1"/>
          <p:nvPr/>
        </p:nvSpPr>
        <p:spPr>
          <a:xfrm>
            <a:off x="1828800" y="731520"/>
            <a:ext cx="14813280" cy="1280160"/>
          </a:xfrm>
          <a:prstGeom prst="rect">
            <a:avLst/>
          </a:prstGeom>
          <a:noFill/>
        </p:spPr>
        <p:txBody>
          <a:bodyPr wrap="square" lIns="0" rIns="0" tIns="0" bIns="0" anchor="b">
            <a:noAutofit/>
          </a:bodyPr>
          <a:lstStyle/>
          <a:p>
            <a:pPr algn="l"/>
            <a:r>
              <a:rPr sz="5400" b="1" i="0">
                <a:solidFill>
                  <a:srgbClr val="421E0F"/>
                </a:solidFill>
                <a:latin typeface="Cormorant Garamond Bold"/>
              </a:rPr>
              <a:t>Contratos que permiten evaluar el resultado</a:t>
            </a:r>
          </a:p>
        </p:txBody>
      </p:sp>
      <p:sp>
        <p:nvSpPr>
          <p:cNvPr id="9" name="Rectangle 8"/>
          <p:cNvSpPr/>
          <p:nvPr/>
        </p:nvSpPr>
        <p:spPr>
          <a:xfrm>
            <a:off x="1828800" y="2852928"/>
            <a:ext cx="274320" cy="27432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651760"/>
            <a:ext cx="6583680" cy="731520"/>
          </a:xfrm>
          <a:prstGeom prst="rect">
            <a:avLst/>
          </a:prstGeom>
          <a:noFill/>
        </p:spPr>
        <p:txBody>
          <a:bodyPr wrap="square" lIns="0" rIns="0" tIns="0" bIns="0" anchor="ctr">
            <a:noAutofit/>
          </a:bodyPr>
          <a:lstStyle/>
          <a:p>
            <a:pPr algn="l"/>
            <a:r>
              <a:rPr sz="3000" b="0" i="0">
                <a:solidFill>
                  <a:srgbClr val="421E0F"/>
                </a:solidFill>
                <a:latin typeface="Barlow"/>
              </a:rPr>
              <a:t>Título obligatorio y límites.</a:t>
            </a:r>
          </a:p>
        </p:txBody>
      </p:sp>
      <p:sp>
        <p:nvSpPr>
          <p:cNvPr id="11" name="Rectangle 10"/>
          <p:cNvSpPr/>
          <p:nvPr/>
        </p:nvSpPr>
        <p:spPr>
          <a:xfrm>
            <a:off x="1828800" y="3813048"/>
            <a:ext cx="274320" cy="27432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3611880"/>
            <a:ext cx="6583680" cy="731520"/>
          </a:xfrm>
          <a:prstGeom prst="rect">
            <a:avLst/>
          </a:prstGeom>
          <a:noFill/>
        </p:spPr>
        <p:txBody>
          <a:bodyPr wrap="square" lIns="0" rIns="0" tIns="0" bIns="0" anchor="ctr">
            <a:noAutofit/>
          </a:bodyPr>
          <a:lstStyle/>
          <a:p>
            <a:pPr algn="l"/>
            <a:r>
              <a:rPr sz="3000" b="0" i="0">
                <a:solidFill>
                  <a:srgbClr val="421E0F"/>
                </a:solidFill>
                <a:latin typeface="Barlow"/>
              </a:rPr>
              <a:t>Prioridad definida.</a:t>
            </a:r>
          </a:p>
        </p:txBody>
      </p:sp>
      <p:sp>
        <p:nvSpPr>
          <p:cNvPr id="13" name="Rectangle 12"/>
          <p:cNvSpPr/>
          <p:nvPr/>
        </p:nvSpPr>
        <p:spPr>
          <a:xfrm>
            <a:off x="1828800" y="4773168"/>
            <a:ext cx="274320" cy="27432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4572000"/>
            <a:ext cx="6583680" cy="731520"/>
          </a:xfrm>
          <a:prstGeom prst="rect">
            <a:avLst/>
          </a:prstGeom>
          <a:noFill/>
        </p:spPr>
        <p:txBody>
          <a:bodyPr wrap="square" lIns="0" rIns="0" tIns="0" bIns="0" anchor="ctr">
            <a:noAutofit/>
          </a:bodyPr>
          <a:lstStyle/>
          <a:p>
            <a:pPr algn="l"/>
            <a:r>
              <a:rPr sz="3000" b="0" i="0">
                <a:solidFill>
                  <a:srgbClr val="421E0F"/>
                </a:solidFill>
                <a:latin typeface="Barlow"/>
              </a:rPr>
              <a:t>Identidad y creación estables.</a:t>
            </a:r>
          </a:p>
        </p:txBody>
      </p:sp>
      <p:sp>
        <p:nvSpPr>
          <p:cNvPr id="15" name="Rectangle 14"/>
          <p:cNvSpPr/>
          <p:nvPr/>
        </p:nvSpPr>
        <p:spPr>
          <a:xfrm>
            <a:off x="1828800" y="5733288"/>
            <a:ext cx="274320" cy="27432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5532120"/>
            <a:ext cx="6583680" cy="731520"/>
          </a:xfrm>
          <a:prstGeom prst="rect">
            <a:avLst/>
          </a:prstGeom>
          <a:noFill/>
        </p:spPr>
        <p:txBody>
          <a:bodyPr wrap="square" lIns="0" rIns="0" tIns="0" bIns="0" anchor="ctr">
            <a:noAutofit/>
          </a:bodyPr>
          <a:lstStyle/>
          <a:p>
            <a:pPr algn="l"/>
            <a:r>
              <a:rPr sz="3000" b="0" i="0">
                <a:solidFill>
                  <a:srgbClr val="421E0F"/>
                </a:solidFill>
                <a:latin typeface="Barlow"/>
              </a:rPr>
              <a:t>Estados con destinos válidos.</a:t>
            </a:r>
          </a:p>
        </p:txBody>
      </p:sp>
      <p:sp>
        <p:nvSpPr>
          <p:cNvPr id="17" name="Rectangle 16"/>
          <p:cNvSpPr/>
          <p:nvPr/>
        </p:nvSpPr>
        <p:spPr>
          <a:xfrm>
            <a:off x="1828800" y="6693407"/>
            <a:ext cx="274320" cy="27432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68880" y="6492240"/>
            <a:ext cx="6583680" cy="731520"/>
          </a:xfrm>
          <a:prstGeom prst="rect">
            <a:avLst/>
          </a:prstGeom>
          <a:noFill/>
        </p:spPr>
        <p:txBody>
          <a:bodyPr wrap="square" lIns="0" rIns="0" tIns="0" bIns="0" anchor="ctr">
            <a:noAutofit/>
          </a:bodyPr>
          <a:lstStyle/>
          <a:p>
            <a:pPr algn="l"/>
            <a:r>
              <a:rPr sz="3000" b="0" i="0">
                <a:solidFill>
                  <a:srgbClr val="421E0F"/>
                </a:solidFill>
                <a:latin typeface="Barlow"/>
              </a:rPr>
              <a:t>XML protegido ante fallos.</a:t>
            </a:r>
          </a:p>
        </p:txBody>
      </p:sp>
      <p:sp>
        <p:nvSpPr>
          <p:cNvPr id="19" name="Rectangle 18"/>
          <p:cNvSpPr/>
          <p:nvPr/>
        </p:nvSpPr>
        <p:spPr>
          <a:xfrm>
            <a:off x="1828800" y="7635240"/>
            <a:ext cx="7223760" cy="20116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0" y="7772400"/>
            <a:ext cx="6492240" cy="1737360"/>
          </a:xfrm>
          <a:prstGeom prst="rect">
            <a:avLst/>
          </a:prstGeom>
          <a:noFill/>
        </p:spPr>
        <p:txBody>
          <a:bodyPr wrap="square" lIns="0" rIns="0" tIns="0" bIns="0" anchor="ctr">
            <a:noAutofit/>
          </a:bodyPr>
          <a:lstStyle/>
          <a:p>
            <a:pPr algn="l">
              <a:spcAft>
                <a:spcPts val="400"/>
              </a:spcAft>
            </a:pPr>
            <a:r>
              <a:rPr sz="2200" b="1" i="0">
                <a:solidFill>
                  <a:srgbClr val="FFFFFF"/>
                </a:solidFill>
                <a:latin typeface="Barlow"/>
              </a:rPr>
              <a:t>EJEMPLO CA-02</a:t>
            </a:r>
          </a:p>
          <a:p>
            <a:pPr algn="l">
              <a:spcAft>
                <a:spcPts val="400"/>
              </a:spcAft>
            </a:pPr>
            <a:r>
              <a:rPr sz="2800" b="0" i="0">
                <a:solidFill>
                  <a:srgbClr val="FFFFFF"/>
                </a:solidFill>
                <a:latin typeface="Barlow"/>
              </a:rPr>
              <a:t>Guardar sin título señala el error y conserva el formulario abierto.</a:t>
            </a:r>
          </a:p>
        </p:txBody>
      </p:sp>
      <p:pic>
        <p:nvPicPr>
          <p:cNvPr id="21" name="Picture 20" descr="Formulario Registrar incidencia con error en el título"/>
          <p:cNvPicPr>
            <a:picLocks noChangeAspect="1"/>
          </p:cNvPicPr>
          <p:nvPr/>
        </p:nvPicPr>
        <p:blipFill>
          <a:blip r:embed="rId3"/>
          <a:stretch>
            <a:fillRect/>
          </a:stretch>
        </p:blipFill>
        <p:spPr>
          <a:xfrm>
            <a:off x="9509760" y="2468880"/>
            <a:ext cx="7132320" cy="6067340"/>
          </a:xfrm>
          <a:prstGeom prst="rect">
            <a:avLst/>
          </a:prstGeom>
          <a:ln w="31750">
            <a:solidFill>
              <a:srgbClr val="6D3720"/>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13" id="13"/>
          <p:cNvGrpSpPr/>
          <p:nvPr/>
        </p:nvGrpSpPr>
        <p:grpSpPr>
          <a:xfrm rot="5400000">
            <a:off x="-5143500" y="4057512"/>
            <a:ext cx="10287000" cy="2171976"/>
            <a:chOff x="0" y="0"/>
            <a:chExt cx="735852" cy="155366"/>
          </a:xfrm>
        </p:grpSpPr>
        <p:sp>
          <p:nvSpPr>
            <p:cNvPr name="Freeform 14" id="14"/>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15" id="15"/>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name="AutoShape 16" id="16"/>
          <p:cNvSpPr/>
          <p:nvPr/>
        </p:nvSpPr>
        <p:spPr>
          <a:xfrm flipH="true">
            <a:off x="17223101" y="-796024"/>
            <a:ext cx="0" cy="4123663"/>
          </a:xfrm>
          <a:prstGeom prst="line">
            <a:avLst/>
          </a:prstGeom>
          <a:ln cap="flat" w="38100">
            <a:solidFill>
              <a:srgbClr val="6D3720"/>
            </a:solidFill>
            <a:prstDash val="solid"/>
            <a:headEnd type="diamond" len="lg" w="lg"/>
            <a:tailEnd type="diamond" len="lg" w="lg"/>
          </a:ln>
        </p:spPr>
      </p:sp>
      <p:sp>
        <p:nvSpPr>
          <p:cNvPr id="17" name="Título"/>
          <p:cNvSpPr txBox="1"/>
          <p:nvPr/>
        </p:nvSpPr>
        <p:spPr>
          <a:xfrm>
            <a:off x="1828800" y="731520"/>
            <a:ext cx="14813280" cy="1280160"/>
          </a:xfrm>
          <a:prstGeom prst="rect">
            <a:avLst/>
          </a:prstGeom>
          <a:noFill/>
        </p:spPr>
        <p:txBody>
          <a:bodyPr wrap="square" lIns="0" rIns="0" tIns="0" bIns="0" anchor="b">
            <a:noAutofit/>
          </a:bodyPr>
          <a:lstStyle/>
          <a:p>
            <a:pPr algn="l"/>
            <a:r>
              <a:rPr sz="5400" b="1" i="0">
                <a:solidFill>
                  <a:srgbClr val="421E0F"/>
                </a:solidFill>
                <a:latin typeface="Cormorant Garamond Bold"/>
              </a:rPr>
              <a:t>Copilot en Visual Studio: contexto y criterios</a:t>
            </a:r>
          </a:p>
        </p:txBody>
      </p:sp>
      <p:pic>
        <p:nvPicPr>
          <p:cNvPr id="18" name="Picture 17" descr="Conversación con Copilot en Visual Studio"/>
          <p:cNvPicPr>
            <a:picLocks noChangeAspect="1"/>
          </p:cNvPicPr>
          <p:nvPr/>
        </p:nvPicPr>
        <p:blipFill>
          <a:blip r:embed="rId3"/>
          <a:stretch>
            <a:fillRect/>
          </a:stretch>
        </p:blipFill>
        <p:spPr>
          <a:xfrm>
            <a:off x="1828800" y="2651760"/>
            <a:ext cx="8595360" cy="4519520"/>
          </a:xfrm>
          <a:prstGeom prst="rect">
            <a:avLst/>
          </a:prstGeom>
          <a:ln w="31750">
            <a:solidFill>
              <a:srgbClr val="6D3720"/>
            </a:solidFill>
          </a:ln>
        </p:spPr>
      </p:pic>
      <p:sp>
        <p:nvSpPr>
          <p:cNvPr id="19" name="Oval 18"/>
          <p:cNvSpPr/>
          <p:nvPr/>
        </p:nvSpPr>
        <p:spPr>
          <a:xfrm>
            <a:off x="10972800" y="2788920"/>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1</a:t>
            </a:r>
          </a:p>
        </p:txBody>
      </p:sp>
      <p:sp>
        <p:nvSpPr>
          <p:cNvPr id="20" name="TextBox 19"/>
          <p:cNvSpPr txBox="1"/>
          <p:nvPr/>
        </p:nvSpPr>
        <p:spPr>
          <a:xfrm>
            <a:off x="11978640" y="2651760"/>
            <a:ext cx="4846320" cy="1371600"/>
          </a:xfrm>
          <a:prstGeom prst="rect">
            <a:avLst/>
          </a:prstGeom>
          <a:noFill/>
        </p:spPr>
        <p:txBody>
          <a:bodyPr wrap="square" lIns="0" rIns="0" tIns="0" bIns="0" anchor="ctr">
            <a:noAutofit/>
          </a:bodyPr>
          <a:lstStyle/>
          <a:p>
            <a:pPr algn="l"/>
            <a:r>
              <a:rPr sz="2800" b="0" i="0">
                <a:solidFill>
                  <a:srgbClr val="421E0F"/>
                </a:solidFill>
                <a:latin typeface="Barlow"/>
              </a:rPr>
              <a:t>El prompt identifica</a:t>
            </a:r>
          </a:p>
          <a:p>
            <a:pPr algn="l"/>
            <a:r>
              <a:rPr sz="2800" b="0" i="0">
                <a:solidFill>
                  <a:srgbClr val="421E0F"/>
                </a:solidFill>
                <a:latin typeface="Barlow"/>
              </a:rPr>
              <a:t>el archivo y el fallo.</a:t>
            </a:r>
          </a:p>
        </p:txBody>
      </p:sp>
      <p:sp>
        <p:nvSpPr>
          <p:cNvPr id="21" name="Oval 20"/>
          <p:cNvSpPr/>
          <p:nvPr/>
        </p:nvSpPr>
        <p:spPr>
          <a:xfrm>
            <a:off x="10972800" y="4389120"/>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2</a:t>
            </a:r>
          </a:p>
        </p:txBody>
      </p:sp>
      <p:sp>
        <p:nvSpPr>
          <p:cNvPr id="22" name="TextBox 21"/>
          <p:cNvSpPr txBox="1"/>
          <p:nvPr/>
        </p:nvSpPr>
        <p:spPr>
          <a:xfrm>
            <a:off x="11978640" y="4251960"/>
            <a:ext cx="4846320" cy="1371600"/>
          </a:xfrm>
          <a:prstGeom prst="rect">
            <a:avLst/>
          </a:prstGeom>
          <a:noFill/>
        </p:spPr>
        <p:txBody>
          <a:bodyPr wrap="square" lIns="0" rIns="0" tIns="0" bIns="0" anchor="ctr">
            <a:noAutofit/>
          </a:bodyPr>
          <a:lstStyle/>
          <a:p>
            <a:pPr algn="l"/>
            <a:r>
              <a:rPr sz="2800" b="0" i="0">
                <a:solidFill>
                  <a:srgbClr val="421E0F"/>
                </a:solidFill>
                <a:latin typeface="Barlow"/>
              </a:rPr>
              <a:t>Pide generar primero</a:t>
            </a:r>
          </a:p>
          <a:p>
            <a:pPr algn="l"/>
            <a:r>
              <a:rPr sz="2800" b="0" i="0">
                <a:solidFill>
                  <a:srgbClr val="421E0F"/>
                </a:solidFill>
                <a:latin typeface="Barlow"/>
              </a:rPr>
              <a:t>solo la prueba.</a:t>
            </a:r>
          </a:p>
        </p:txBody>
      </p:sp>
      <p:sp>
        <p:nvSpPr>
          <p:cNvPr id="23" name="Oval 22"/>
          <p:cNvSpPr/>
          <p:nvPr/>
        </p:nvSpPr>
        <p:spPr>
          <a:xfrm>
            <a:off x="10972800" y="5989320"/>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3</a:t>
            </a:r>
          </a:p>
        </p:txBody>
      </p:sp>
      <p:sp>
        <p:nvSpPr>
          <p:cNvPr id="24" name="TextBox 23"/>
          <p:cNvSpPr txBox="1"/>
          <p:nvPr/>
        </p:nvSpPr>
        <p:spPr>
          <a:xfrm>
            <a:off x="11978640" y="5852160"/>
            <a:ext cx="4846320" cy="1371600"/>
          </a:xfrm>
          <a:prstGeom prst="rect">
            <a:avLst/>
          </a:prstGeom>
          <a:noFill/>
        </p:spPr>
        <p:txBody>
          <a:bodyPr wrap="square" lIns="0" rIns="0" tIns="0" bIns="0" anchor="ctr">
            <a:noAutofit/>
          </a:bodyPr>
          <a:lstStyle/>
          <a:p>
            <a:pPr algn="l"/>
            <a:r>
              <a:rPr sz="2800" b="0" i="0">
                <a:solidFill>
                  <a:srgbClr val="421E0F"/>
                </a:solidFill>
                <a:latin typeface="Barlow"/>
              </a:rPr>
              <a:t>Después se ejecuta</a:t>
            </a:r>
          </a:p>
          <a:p>
            <a:pPr algn="l"/>
            <a:r>
              <a:rPr sz="2800" b="0" i="0">
                <a:solidFill>
                  <a:srgbClr val="421E0F"/>
                </a:solidFill>
                <a:latin typeface="Barlow"/>
              </a:rPr>
              <a:t>y se revisa el resultado.</a:t>
            </a:r>
          </a:p>
        </p:txBody>
      </p:sp>
      <p:sp>
        <p:nvSpPr>
          <p:cNvPr id="25" name="Rectangle 24"/>
          <p:cNvSpPr/>
          <p:nvPr/>
        </p:nvSpPr>
        <p:spPr>
          <a:xfrm>
            <a:off x="1828800" y="7680960"/>
            <a:ext cx="14996159" cy="128016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94560" y="7680960"/>
            <a:ext cx="14264640" cy="1280160"/>
          </a:xfrm>
          <a:prstGeom prst="rect">
            <a:avLst/>
          </a:prstGeom>
          <a:noFill/>
        </p:spPr>
        <p:txBody>
          <a:bodyPr wrap="square" lIns="0" rIns="0" tIns="0" bIns="0" anchor="ctr">
            <a:noAutofit/>
          </a:bodyPr>
          <a:lstStyle/>
          <a:p>
            <a:pPr algn="l"/>
            <a:r>
              <a:rPr sz="3000" b="1" i="0">
                <a:solidFill>
                  <a:srgbClr val="FFFFFF"/>
                </a:solidFill>
                <a:latin typeface="Barlow"/>
              </a:rPr>
              <a:t>Base y prueba: Copilot. Corrección de temporales: Codex.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4" id="4"/>
          <p:cNvGrpSpPr/>
          <p:nvPr/>
        </p:nvGrpSpPr>
        <p:grpSpPr>
          <a:xfrm rot="5400000">
            <a:off x="13144500" y="4057512"/>
            <a:ext cx="10287000" cy="2171976"/>
            <a:chOff x="0" y="0"/>
            <a:chExt cx="735852" cy="155366"/>
          </a:xfrm>
        </p:grpSpPr>
        <p:sp>
          <p:nvSpPr>
            <p:cNvPr name="Freeform 5" id="5"/>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6" id="6"/>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7" name="Título"/>
          <p:cNvSpPr txBox="1"/>
          <p:nvPr/>
        </p:nvSpPr>
        <p:spPr>
          <a:xfrm>
            <a:off x="1005840" y="731520"/>
            <a:ext cx="15087600" cy="1280160"/>
          </a:xfrm>
          <a:prstGeom prst="rect">
            <a:avLst/>
          </a:prstGeom>
          <a:noFill/>
        </p:spPr>
        <p:txBody>
          <a:bodyPr wrap="square" lIns="0" rIns="0" tIns="0" bIns="0" anchor="b">
            <a:noAutofit/>
          </a:bodyPr>
          <a:lstStyle/>
          <a:p>
            <a:pPr algn="l"/>
            <a:r>
              <a:rPr sz="5400" b="1" i="0">
                <a:solidFill>
                  <a:srgbClr val="421E0F"/>
                </a:solidFill>
                <a:latin typeface="Cormorant Garamond Bold"/>
              </a:rPr>
              <a:t>Arquitectura por responsabilidades</a:t>
            </a:r>
          </a:p>
        </p:txBody>
      </p:sp>
      <p:sp>
        <p:nvSpPr>
          <p:cNvPr id="8" name="Rectangle 7"/>
          <p:cNvSpPr/>
          <p:nvPr/>
        </p:nvSpPr>
        <p:spPr>
          <a:xfrm>
            <a:off x="1005840" y="2651760"/>
            <a:ext cx="28346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651760"/>
            <a:ext cx="2468880" cy="1097280"/>
          </a:xfrm>
          <a:prstGeom prst="rect">
            <a:avLst/>
          </a:prstGeom>
          <a:noFill/>
        </p:spPr>
        <p:txBody>
          <a:bodyPr wrap="square" lIns="0" rIns="0" tIns="0" bIns="0" anchor="ctr">
            <a:noAutofit/>
          </a:bodyPr>
          <a:lstStyle/>
          <a:p>
            <a:pPr algn="l"/>
            <a:r>
              <a:rPr sz="2600" b="1" i="0">
                <a:solidFill>
                  <a:srgbClr val="FFFFFF"/>
                </a:solidFill>
                <a:latin typeface="Barlow"/>
              </a:rPr>
              <a:t>Formularios</a:t>
            </a:r>
          </a:p>
        </p:txBody>
      </p:sp>
      <p:sp>
        <p:nvSpPr>
          <p:cNvPr id="10" name="Rectangle 9"/>
          <p:cNvSpPr/>
          <p:nvPr/>
        </p:nvSpPr>
        <p:spPr>
          <a:xfrm>
            <a:off x="3840480" y="2651760"/>
            <a:ext cx="457200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2651760"/>
            <a:ext cx="4114800" cy="1097280"/>
          </a:xfrm>
          <a:prstGeom prst="rect">
            <a:avLst/>
          </a:prstGeom>
          <a:noFill/>
        </p:spPr>
        <p:txBody>
          <a:bodyPr wrap="square" lIns="0" rIns="0" tIns="0" bIns="0" anchor="ctr">
            <a:noAutofit/>
          </a:bodyPr>
          <a:lstStyle/>
          <a:p>
            <a:pPr algn="l"/>
            <a:r>
              <a:rPr sz="2400" b="0" i="0">
                <a:solidFill>
                  <a:srgbClr val="421E0F"/>
                </a:solidFill>
                <a:latin typeface="Barlow"/>
              </a:rPr>
              <a:t>Listado, alta, edición y detalle</a:t>
            </a:r>
          </a:p>
        </p:txBody>
      </p:sp>
      <p:sp>
        <p:nvSpPr>
          <p:cNvPr id="12" name="Rectangle 11"/>
          <p:cNvSpPr/>
          <p:nvPr/>
        </p:nvSpPr>
        <p:spPr>
          <a:xfrm>
            <a:off x="1005840" y="3931920"/>
            <a:ext cx="28346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931920"/>
            <a:ext cx="2468880" cy="1097280"/>
          </a:xfrm>
          <a:prstGeom prst="rect">
            <a:avLst/>
          </a:prstGeom>
          <a:noFill/>
        </p:spPr>
        <p:txBody>
          <a:bodyPr wrap="square" lIns="0" rIns="0" tIns="0" bIns="0" anchor="ctr">
            <a:noAutofit/>
          </a:bodyPr>
          <a:lstStyle/>
          <a:p>
            <a:pPr algn="l"/>
            <a:r>
              <a:rPr sz="2600" b="1" i="0">
                <a:solidFill>
                  <a:srgbClr val="FFFFFF"/>
                </a:solidFill>
                <a:latin typeface="Barlow"/>
              </a:rPr>
              <a:t>Controladores</a:t>
            </a:r>
          </a:p>
        </p:txBody>
      </p:sp>
      <p:sp>
        <p:nvSpPr>
          <p:cNvPr id="14" name="Rectangle 13"/>
          <p:cNvSpPr/>
          <p:nvPr/>
        </p:nvSpPr>
        <p:spPr>
          <a:xfrm>
            <a:off x="3840480" y="3931920"/>
            <a:ext cx="457200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0" y="3931920"/>
            <a:ext cx="4114800" cy="1097280"/>
          </a:xfrm>
          <a:prstGeom prst="rect">
            <a:avLst/>
          </a:prstGeom>
          <a:noFill/>
        </p:spPr>
        <p:txBody>
          <a:bodyPr wrap="square" lIns="0" rIns="0" tIns="0" bIns="0" anchor="ctr">
            <a:noAutofit/>
          </a:bodyPr>
          <a:lstStyle/>
          <a:p>
            <a:pPr algn="l"/>
            <a:r>
              <a:rPr sz="2400" b="0" i="0">
                <a:solidFill>
                  <a:srgbClr val="421E0F"/>
                </a:solidFill>
                <a:latin typeface="Barlow"/>
              </a:rPr>
              <a:t>Reglas, transiciones y coordinación</a:t>
            </a:r>
          </a:p>
        </p:txBody>
      </p:sp>
      <p:sp>
        <p:nvSpPr>
          <p:cNvPr id="16" name="Rectangle 15"/>
          <p:cNvSpPr/>
          <p:nvPr/>
        </p:nvSpPr>
        <p:spPr>
          <a:xfrm>
            <a:off x="1005840" y="5212079"/>
            <a:ext cx="28346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5212079"/>
            <a:ext cx="2468880" cy="1097280"/>
          </a:xfrm>
          <a:prstGeom prst="rect">
            <a:avLst/>
          </a:prstGeom>
          <a:noFill/>
        </p:spPr>
        <p:txBody>
          <a:bodyPr wrap="square" lIns="0" rIns="0" tIns="0" bIns="0" anchor="ctr">
            <a:noAutofit/>
          </a:bodyPr>
          <a:lstStyle/>
          <a:p>
            <a:pPr algn="l"/>
            <a:r>
              <a:rPr sz="2600" b="1" i="0">
                <a:solidFill>
                  <a:srgbClr val="FFFFFF"/>
                </a:solidFill>
                <a:latin typeface="Barlow"/>
              </a:rPr>
              <a:t>Entidades</a:t>
            </a:r>
          </a:p>
        </p:txBody>
      </p:sp>
      <p:sp>
        <p:nvSpPr>
          <p:cNvPr id="18" name="Rectangle 17"/>
          <p:cNvSpPr/>
          <p:nvPr/>
        </p:nvSpPr>
        <p:spPr>
          <a:xfrm>
            <a:off x="3840480" y="5212079"/>
            <a:ext cx="457200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0" y="5212079"/>
            <a:ext cx="4114800" cy="1097280"/>
          </a:xfrm>
          <a:prstGeom prst="rect">
            <a:avLst/>
          </a:prstGeom>
          <a:noFill/>
        </p:spPr>
        <p:txBody>
          <a:bodyPr wrap="square" lIns="0" rIns="0" tIns="0" bIns="0" anchor="ctr">
            <a:noAutofit/>
          </a:bodyPr>
          <a:lstStyle/>
          <a:p>
            <a:pPr algn="l"/>
            <a:r>
              <a:rPr sz="2400" b="0" i="0">
                <a:solidFill>
                  <a:srgbClr val="421E0F"/>
                </a:solidFill>
                <a:latin typeface="Barlow"/>
              </a:rPr>
              <a:t>Incidencia y enumeraciones</a:t>
            </a:r>
          </a:p>
        </p:txBody>
      </p:sp>
      <p:sp>
        <p:nvSpPr>
          <p:cNvPr id="20" name="Rectangle 19"/>
          <p:cNvSpPr/>
          <p:nvPr/>
        </p:nvSpPr>
        <p:spPr>
          <a:xfrm>
            <a:off x="1005840" y="6492240"/>
            <a:ext cx="28346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6492240"/>
            <a:ext cx="2468880" cy="1097280"/>
          </a:xfrm>
          <a:prstGeom prst="rect">
            <a:avLst/>
          </a:prstGeom>
          <a:noFill/>
        </p:spPr>
        <p:txBody>
          <a:bodyPr wrap="square" lIns="0" rIns="0" tIns="0" bIns="0" anchor="ctr">
            <a:noAutofit/>
          </a:bodyPr>
          <a:lstStyle/>
          <a:p>
            <a:pPr algn="l"/>
            <a:r>
              <a:rPr sz="2600" b="1" i="0">
                <a:solidFill>
                  <a:srgbClr val="FFFFFF"/>
                </a:solidFill>
                <a:latin typeface="Barlow"/>
              </a:rPr>
              <a:t>Datos</a:t>
            </a:r>
          </a:p>
        </p:txBody>
      </p:sp>
      <p:sp>
        <p:nvSpPr>
          <p:cNvPr id="22" name="Rectangle 21"/>
          <p:cNvSpPr/>
          <p:nvPr/>
        </p:nvSpPr>
        <p:spPr>
          <a:xfrm>
            <a:off x="3840480" y="6492240"/>
            <a:ext cx="457200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0" y="6492240"/>
            <a:ext cx="4114800" cy="1097280"/>
          </a:xfrm>
          <a:prstGeom prst="rect">
            <a:avLst/>
          </a:prstGeom>
          <a:noFill/>
        </p:spPr>
        <p:txBody>
          <a:bodyPr wrap="square" lIns="0" rIns="0" tIns="0" bIns="0" anchor="ctr">
            <a:noAutofit/>
          </a:bodyPr>
          <a:lstStyle/>
          <a:p>
            <a:pPr algn="l"/>
            <a:r>
              <a:rPr sz="2400" b="0" i="0">
                <a:solidFill>
                  <a:srgbClr val="421E0F"/>
                </a:solidFill>
                <a:latin typeface="Barlow"/>
              </a:rPr>
              <a:t>Contrato y repositorio XML</a:t>
            </a:r>
          </a:p>
        </p:txBody>
      </p:sp>
      <p:sp>
        <p:nvSpPr>
          <p:cNvPr id="24" name="Rectangle 23"/>
          <p:cNvSpPr/>
          <p:nvPr/>
        </p:nvSpPr>
        <p:spPr>
          <a:xfrm>
            <a:off x="1005840" y="7772400"/>
            <a:ext cx="2834640" cy="10972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7772400"/>
            <a:ext cx="2468880" cy="1097280"/>
          </a:xfrm>
          <a:prstGeom prst="rect">
            <a:avLst/>
          </a:prstGeom>
          <a:noFill/>
        </p:spPr>
        <p:txBody>
          <a:bodyPr wrap="square" lIns="0" rIns="0" tIns="0" bIns="0" anchor="ctr">
            <a:noAutofit/>
          </a:bodyPr>
          <a:lstStyle/>
          <a:p>
            <a:pPr algn="l"/>
            <a:r>
              <a:rPr sz="2600" b="1" i="0">
                <a:solidFill>
                  <a:srgbClr val="FFFFFF"/>
                </a:solidFill>
                <a:latin typeface="Barlow"/>
              </a:rPr>
              <a:t>Pruebas</a:t>
            </a:r>
          </a:p>
        </p:txBody>
      </p:sp>
      <p:sp>
        <p:nvSpPr>
          <p:cNvPr id="26" name="Rectangle 25"/>
          <p:cNvSpPr/>
          <p:nvPr/>
        </p:nvSpPr>
        <p:spPr>
          <a:xfrm>
            <a:off x="3840480" y="7772400"/>
            <a:ext cx="4572000" cy="109728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0" y="7772400"/>
            <a:ext cx="4114800" cy="1097280"/>
          </a:xfrm>
          <a:prstGeom prst="rect">
            <a:avLst/>
          </a:prstGeom>
          <a:noFill/>
        </p:spPr>
        <p:txBody>
          <a:bodyPr wrap="square" lIns="0" rIns="0" tIns="0" bIns="0" anchor="ctr">
            <a:noAutofit/>
          </a:bodyPr>
          <a:lstStyle/>
          <a:p>
            <a:pPr algn="l"/>
            <a:r>
              <a:rPr sz="2400" b="0" i="0">
                <a:solidFill>
                  <a:srgbClr val="421E0F"/>
                </a:solidFill>
                <a:latin typeface="Barlow"/>
              </a:rPr>
              <a:t>Ejecutable de aserciones sin NuGet</a:t>
            </a:r>
          </a:p>
        </p:txBody>
      </p:sp>
      <p:pic>
        <p:nvPicPr>
          <p:cNvPr id="28" name="Picture 27" descr="Estructura del proyecto en el Explorador de soluciones"/>
          <p:cNvPicPr>
            <a:picLocks noChangeAspect="1"/>
          </p:cNvPicPr>
          <p:nvPr/>
        </p:nvPicPr>
        <p:blipFill>
          <a:blip r:embed="rId3"/>
          <a:stretch>
            <a:fillRect/>
          </a:stretch>
        </p:blipFill>
        <p:spPr>
          <a:xfrm>
            <a:off x="8869680" y="3840480"/>
            <a:ext cx="7223760" cy="3798320"/>
          </a:xfrm>
          <a:prstGeom prst="rect">
            <a:avLst/>
          </a:prstGeom>
          <a:ln w="31750">
            <a:solidFill>
              <a:srgbClr val="6D3720"/>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sp>
        <p:nvSpPr>
          <p:cNvPr name="AutoShape 7" id="7"/>
          <p:cNvSpPr/>
          <p:nvPr/>
        </p:nvSpPr>
        <p:spPr>
          <a:xfrm>
            <a:off x="-394459" y="3367723"/>
            <a:ext cx="8039225" cy="0"/>
          </a:xfrm>
          <a:prstGeom prst="line">
            <a:avLst/>
          </a:prstGeom>
          <a:ln cap="flat" w="38100">
            <a:solidFill>
              <a:srgbClr val="6D3720"/>
            </a:solidFill>
            <a:prstDash val="solid"/>
            <a:headEnd type="diamond" len="lg" w="lg"/>
            <a:tailEnd type="diamond" len="lg" w="lg"/>
          </a:ln>
        </p:spPr>
      </p:sp>
      <p:sp>
        <p:nvSpPr>
          <p:cNvPr id="8" name="Título"/>
          <p:cNvSpPr txBox="1"/>
          <p:nvPr/>
        </p:nvSpPr>
        <p:spPr>
          <a:xfrm>
            <a:off x="1005840" y="914400"/>
            <a:ext cx="8778240" cy="2286000"/>
          </a:xfrm>
          <a:prstGeom prst="rect">
            <a:avLst/>
          </a:prstGeom>
          <a:noFill/>
        </p:spPr>
        <p:txBody>
          <a:bodyPr wrap="square" lIns="0" rIns="0" tIns="0" bIns="0" anchor="b">
            <a:noAutofit/>
          </a:bodyPr>
          <a:lstStyle/>
          <a:p>
            <a:pPr algn="l"/>
            <a:r>
              <a:rPr sz="5600" b="1" i="0">
                <a:solidFill>
                  <a:srgbClr val="421E0F"/>
                </a:solidFill>
                <a:latin typeface="Cormorant Garamond Bold"/>
              </a:rPr>
              <a:t>Caso práctico: registrar</a:t>
            </a:r>
          </a:p>
          <a:p>
            <a:pPr algn="l"/>
            <a:r>
              <a:rPr sz="5600" b="1" i="0">
                <a:solidFill>
                  <a:srgbClr val="421E0F"/>
                </a:solidFill>
                <a:latin typeface="Cormorant Garamond Bold"/>
              </a:rPr>
              <a:t>y seguir una incidencia</a:t>
            </a:r>
          </a:p>
        </p:txBody>
      </p:sp>
      <p:sp>
        <p:nvSpPr>
          <p:cNvPr id="9" name="Oval 8"/>
          <p:cNvSpPr/>
          <p:nvPr/>
        </p:nvSpPr>
        <p:spPr>
          <a:xfrm>
            <a:off x="1005840" y="3749039"/>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1</a:t>
            </a:r>
          </a:p>
        </p:txBody>
      </p:sp>
      <p:sp>
        <p:nvSpPr>
          <p:cNvPr id="10" name="TextBox 9"/>
          <p:cNvSpPr txBox="1"/>
          <p:nvPr/>
        </p:nvSpPr>
        <p:spPr>
          <a:xfrm>
            <a:off x="2011680" y="3749039"/>
            <a:ext cx="7680960" cy="731520"/>
          </a:xfrm>
          <a:prstGeom prst="rect">
            <a:avLst/>
          </a:prstGeom>
          <a:noFill/>
        </p:spPr>
        <p:txBody>
          <a:bodyPr wrap="square" lIns="0" rIns="0" tIns="0" bIns="0" anchor="ctr">
            <a:noAutofit/>
          </a:bodyPr>
          <a:lstStyle/>
          <a:p>
            <a:pPr algn="l"/>
            <a:r>
              <a:rPr sz="3000" b="0" i="0">
                <a:solidFill>
                  <a:srgbClr val="421E0F"/>
                </a:solidFill>
                <a:latin typeface="Barlow"/>
              </a:rPr>
              <a:t>Registrar título y prioridad.</a:t>
            </a:r>
          </a:p>
        </p:txBody>
      </p:sp>
      <p:sp>
        <p:nvSpPr>
          <p:cNvPr id="11" name="Oval 10"/>
          <p:cNvSpPr/>
          <p:nvPr/>
        </p:nvSpPr>
        <p:spPr>
          <a:xfrm>
            <a:off x="1005840" y="4846320"/>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2</a:t>
            </a:r>
          </a:p>
        </p:txBody>
      </p:sp>
      <p:sp>
        <p:nvSpPr>
          <p:cNvPr id="12" name="TextBox 11"/>
          <p:cNvSpPr txBox="1"/>
          <p:nvPr/>
        </p:nvSpPr>
        <p:spPr>
          <a:xfrm>
            <a:off x="2011680" y="4846320"/>
            <a:ext cx="7680960" cy="731520"/>
          </a:xfrm>
          <a:prstGeom prst="rect">
            <a:avLst/>
          </a:prstGeom>
          <a:noFill/>
        </p:spPr>
        <p:txBody>
          <a:bodyPr wrap="square" lIns="0" rIns="0" tIns="0" bIns="0" anchor="ctr">
            <a:noAutofit/>
          </a:bodyPr>
          <a:lstStyle/>
          <a:p>
            <a:pPr algn="l"/>
            <a:r>
              <a:rPr sz="3000" b="0" i="0">
                <a:solidFill>
                  <a:srgbClr val="421E0F"/>
                </a:solidFill>
                <a:latin typeface="Barlow"/>
              </a:rPr>
              <a:t>Editar sin cambiar el ID.</a:t>
            </a:r>
          </a:p>
        </p:txBody>
      </p:sp>
      <p:sp>
        <p:nvSpPr>
          <p:cNvPr id="13" name="Oval 12"/>
          <p:cNvSpPr/>
          <p:nvPr/>
        </p:nvSpPr>
        <p:spPr>
          <a:xfrm>
            <a:off x="1005840" y="5943600"/>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3</a:t>
            </a:r>
          </a:p>
        </p:txBody>
      </p:sp>
      <p:sp>
        <p:nvSpPr>
          <p:cNvPr id="14" name="TextBox 13"/>
          <p:cNvSpPr txBox="1"/>
          <p:nvPr/>
        </p:nvSpPr>
        <p:spPr>
          <a:xfrm>
            <a:off x="2011680" y="5943600"/>
            <a:ext cx="7680960" cy="731520"/>
          </a:xfrm>
          <a:prstGeom prst="rect">
            <a:avLst/>
          </a:prstGeom>
          <a:noFill/>
        </p:spPr>
        <p:txBody>
          <a:bodyPr wrap="square" lIns="0" rIns="0" tIns="0" bIns="0" anchor="ctr">
            <a:noAutofit/>
          </a:bodyPr>
          <a:lstStyle/>
          <a:p>
            <a:pPr algn="l"/>
            <a:r>
              <a:rPr sz="3000" b="0" i="0">
                <a:solidFill>
                  <a:srgbClr val="421E0F"/>
                </a:solidFill>
                <a:latin typeface="Barlow"/>
              </a:rPr>
              <a:t>Filtrar texto y estado.</a:t>
            </a:r>
          </a:p>
        </p:txBody>
      </p:sp>
      <p:sp>
        <p:nvSpPr>
          <p:cNvPr id="15" name="Oval 14"/>
          <p:cNvSpPr/>
          <p:nvPr/>
        </p:nvSpPr>
        <p:spPr>
          <a:xfrm>
            <a:off x="1005840" y="7040879"/>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4</a:t>
            </a:r>
          </a:p>
        </p:txBody>
      </p:sp>
      <p:sp>
        <p:nvSpPr>
          <p:cNvPr id="16" name="TextBox 15"/>
          <p:cNvSpPr txBox="1"/>
          <p:nvPr/>
        </p:nvSpPr>
        <p:spPr>
          <a:xfrm>
            <a:off x="2011680" y="7040879"/>
            <a:ext cx="7680960" cy="731520"/>
          </a:xfrm>
          <a:prstGeom prst="rect">
            <a:avLst/>
          </a:prstGeom>
          <a:noFill/>
        </p:spPr>
        <p:txBody>
          <a:bodyPr wrap="square" lIns="0" rIns="0" tIns="0" bIns="0" anchor="ctr">
            <a:noAutofit/>
          </a:bodyPr>
          <a:lstStyle/>
          <a:p>
            <a:pPr algn="l"/>
            <a:r>
              <a:rPr sz="3000" b="0" i="0">
                <a:solidFill>
                  <a:srgbClr val="421E0F"/>
                </a:solidFill>
                <a:latin typeface="Barlow"/>
              </a:rPr>
              <a:t>Resolver y volver a abrir.</a:t>
            </a:r>
          </a:p>
        </p:txBody>
      </p:sp>
      <p:sp>
        <p:nvSpPr>
          <p:cNvPr id="17" name="Oval 16"/>
          <p:cNvSpPr/>
          <p:nvPr/>
        </p:nvSpPr>
        <p:spPr>
          <a:xfrm>
            <a:off x="1005840" y="8138159"/>
            <a:ext cx="731520" cy="731520"/>
          </a:xfrm>
          <a:prstGeom prst="ellipse">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600">
                <a:solidFill>
                  <a:srgbClr val="FFFFFF"/>
                </a:solidFill>
                <a:latin typeface="Barlow"/>
              </a:rPr>
              <a:t>5</a:t>
            </a:r>
          </a:p>
        </p:txBody>
      </p:sp>
      <p:sp>
        <p:nvSpPr>
          <p:cNvPr id="18" name="TextBox 17"/>
          <p:cNvSpPr txBox="1"/>
          <p:nvPr/>
        </p:nvSpPr>
        <p:spPr>
          <a:xfrm>
            <a:off x="2011680" y="8138159"/>
            <a:ext cx="7680960" cy="731520"/>
          </a:xfrm>
          <a:prstGeom prst="rect">
            <a:avLst/>
          </a:prstGeom>
          <a:noFill/>
        </p:spPr>
        <p:txBody>
          <a:bodyPr wrap="square" lIns="0" rIns="0" tIns="0" bIns="0" anchor="ctr">
            <a:noAutofit/>
          </a:bodyPr>
          <a:lstStyle/>
          <a:p>
            <a:pPr algn="l"/>
            <a:r>
              <a:rPr sz="3000" b="0" i="0">
                <a:solidFill>
                  <a:srgbClr val="421E0F"/>
                </a:solidFill>
                <a:latin typeface="Barlow"/>
              </a:rPr>
              <a:t>Reiniciar y comprobar XML.</a:t>
            </a:r>
          </a:p>
        </p:txBody>
      </p:sp>
      <p:pic>
        <p:nvPicPr>
          <p:cNvPr id="19" name="Picture 18" descr="Ventana Detalle de incidencia"/>
          <p:cNvPicPr>
            <a:picLocks noChangeAspect="1"/>
          </p:cNvPicPr>
          <p:nvPr/>
        </p:nvPicPr>
        <p:blipFill>
          <a:blip r:embed="rId3"/>
          <a:stretch>
            <a:fillRect/>
          </a:stretch>
        </p:blipFill>
        <p:spPr>
          <a:xfrm>
            <a:off x="10332720" y="2926080"/>
            <a:ext cx="6217920" cy="5289476"/>
          </a:xfrm>
          <a:prstGeom prst="rect">
            <a:avLst/>
          </a:prstGeom>
          <a:ln w="31750">
            <a:solidFill>
              <a:srgbClr val="6D3720"/>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5" id="5"/>
          <p:cNvGrpSpPr/>
          <p:nvPr/>
        </p:nvGrpSpPr>
        <p:grpSpPr>
          <a:xfrm rot="5400000">
            <a:off x="-5200788" y="4057512"/>
            <a:ext cx="10287000" cy="2171976"/>
            <a:chOff x="0" y="0"/>
            <a:chExt cx="735852" cy="155366"/>
          </a:xfrm>
        </p:grpSpPr>
        <p:sp>
          <p:nvSpPr>
            <p:cNvPr name="Freeform 6" id="6"/>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6D3720"/>
            </a:solidFill>
          </p:spPr>
        </p:sp>
        <p:sp>
          <p:nvSpPr>
            <p:cNvPr name="TextBox 7" id="7"/>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8" name="Título"/>
          <p:cNvSpPr txBox="1"/>
          <p:nvPr/>
        </p:nvSpPr>
        <p:spPr>
          <a:xfrm>
            <a:off x="1828800" y="731520"/>
            <a:ext cx="14813280" cy="1280160"/>
          </a:xfrm>
          <a:prstGeom prst="rect">
            <a:avLst/>
          </a:prstGeom>
          <a:noFill/>
        </p:spPr>
        <p:txBody>
          <a:bodyPr wrap="square" lIns="0" rIns="0" tIns="0" bIns="0" anchor="b">
            <a:noAutofit/>
          </a:bodyPr>
          <a:lstStyle/>
          <a:p>
            <a:pPr algn="l"/>
            <a:r>
              <a:rPr sz="5400" b="1" i="0">
                <a:solidFill>
                  <a:srgbClr val="421E0F"/>
                </a:solidFill>
                <a:latin typeface="Cormorant Garamond Bold"/>
              </a:rPr>
              <a:t>Actions compila y ejecuta las verificaciones</a:t>
            </a:r>
          </a:p>
        </p:txBody>
      </p:sp>
      <p:pic>
        <p:nvPicPr>
          <p:cNvPr id="9" name="Picture 8" descr="Ejecución de GitHub Actions con pasos aprobados"/>
          <p:cNvPicPr>
            <a:picLocks noChangeAspect="1"/>
          </p:cNvPicPr>
          <p:nvPr/>
        </p:nvPicPr>
        <p:blipFill>
          <a:blip r:embed="rId3"/>
          <a:stretch>
            <a:fillRect/>
          </a:stretch>
        </p:blipFill>
        <p:spPr>
          <a:xfrm>
            <a:off x="1828800" y="2651760"/>
            <a:ext cx="9326880" cy="5249596"/>
          </a:xfrm>
          <a:prstGeom prst="rect">
            <a:avLst/>
          </a:prstGeom>
          <a:ln w="31750">
            <a:solidFill>
              <a:srgbClr val="6D3720"/>
            </a:solidFill>
          </a:ln>
        </p:spPr>
      </p:pic>
      <p:sp>
        <p:nvSpPr>
          <p:cNvPr id="10" name="Rectangle 9"/>
          <p:cNvSpPr/>
          <p:nvPr/>
        </p:nvSpPr>
        <p:spPr>
          <a:xfrm>
            <a:off x="11704320" y="2651760"/>
            <a:ext cx="4937760" cy="246888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78640" y="2743200"/>
            <a:ext cx="1828800" cy="2286000"/>
          </a:xfrm>
          <a:prstGeom prst="rect">
            <a:avLst/>
          </a:prstGeom>
          <a:noFill/>
        </p:spPr>
        <p:txBody>
          <a:bodyPr wrap="square" lIns="0" rIns="0" tIns="0" bIns="0" anchor="ctr">
            <a:noAutofit/>
          </a:bodyPr>
          <a:lstStyle/>
          <a:p>
            <a:pPr algn="l"/>
            <a:r>
              <a:rPr sz="13000" b="1" i="0">
                <a:solidFill>
                  <a:srgbClr val="FFFFFF"/>
                </a:solidFill>
                <a:latin typeface="Cormorant Garamond Bold"/>
              </a:rPr>
              <a:t>9</a:t>
            </a:r>
          </a:p>
        </p:txBody>
      </p:sp>
      <p:sp>
        <p:nvSpPr>
          <p:cNvPr id="12" name="TextBox 11"/>
          <p:cNvSpPr txBox="1"/>
          <p:nvPr/>
        </p:nvSpPr>
        <p:spPr>
          <a:xfrm>
            <a:off x="13624560" y="2743200"/>
            <a:ext cx="2926080" cy="2286000"/>
          </a:xfrm>
          <a:prstGeom prst="rect">
            <a:avLst/>
          </a:prstGeom>
          <a:noFill/>
        </p:spPr>
        <p:txBody>
          <a:bodyPr wrap="square" lIns="0" rIns="0" tIns="0" bIns="0" anchor="ctr">
            <a:noAutofit/>
          </a:bodyPr>
          <a:lstStyle/>
          <a:p>
            <a:pPr algn="l"/>
            <a:r>
              <a:rPr sz="2400" b="0" i="0">
                <a:solidFill>
                  <a:srgbClr val="FFFFFF"/>
                </a:solidFill>
                <a:latin typeface="Barlow"/>
              </a:rPr>
              <a:t>grupos</a:t>
            </a:r>
          </a:p>
          <a:p>
            <a:pPr algn="l"/>
            <a:r>
              <a:rPr sz="2400" b="0" i="0">
                <a:solidFill>
                  <a:srgbClr val="FFFFFF"/>
                </a:solidFill>
                <a:latin typeface="Barlow"/>
              </a:rPr>
              <a:t>aprobados,</a:t>
            </a:r>
          </a:p>
          <a:p>
            <a:pPr algn="l"/>
            <a:r>
              <a:rPr sz="2400" b="0" i="0">
                <a:solidFill>
                  <a:srgbClr val="FFFFFF"/>
                </a:solidFill>
                <a:latin typeface="Barlow"/>
              </a:rPr>
              <a:t>con varias</a:t>
            </a:r>
          </a:p>
          <a:p>
            <a:pPr algn="l"/>
            <a:r>
              <a:rPr sz="2400" b="0" i="0">
                <a:solidFill>
                  <a:srgbClr val="FFFFFF"/>
                </a:solidFill>
                <a:latin typeface="Barlow"/>
              </a:rPr>
              <a:t>aserciones</a:t>
            </a:r>
          </a:p>
        </p:txBody>
      </p:sp>
      <p:sp>
        <p:nvSpPr>
          <p:cNvPr id="13" name="Rectangle 12"/>
          <p:cNvSpPr/>
          <p:nvPr/>
        </p:nvSpPr>
        <p:spPr>
          <a:xfrm>
            <a:off x="11704320" y="5349240"/>
            <a:ext cx="4937760" cy="160020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78640" y="5349240"/>
            <a:ext cx="4389120" cy="1600200"/>
          </a:xfrm>
          <a:prstGeom prst="rect">
            <a:avLst/>
          </a:prstGeom>
          <a:noFill/>
        </p:spPr>
        <p:txBody>
          <a:bodyPr wrap="square" lIns="0" rIns="0" tIns="0" bIns="0" anchor="ctr">
            <a:noAutofit/>
          </a:bodyPr>
          <a:lstStyle/>
          <a:p>
            <a:pPr algn="l"/>
            <a:r>
              <a:rPr sz="2600" b="1" i="0">
                <a:solidFill>
                  <a:srgbClr val="6D3720"/>
                </a:solidFill>
                <a:latin typeface="Barlow"/>
              </a:rPr>
              <a:t>Windows + MSBuild</a:t>
            </a:r>
          </a:p>
          <a:p>
            <a:pPr algn="l"/>
            <a:r>
              <a:rPr sz="2600" b="0" i="0">
                <a:solidFill>
                  <a:srgbClr val="421E0F"/>
                </a:solidFill>
                <a:latin typeface="Barlow"/>
              </a:rPr>
              <a:t>compila y ejecuta.</a:t>
            </a:r>
          </a:p>
        </p:txBody>
      </p:sp>
      <p:sp>
        <p:nvSpPr>
          <p:cNvPr id="15" name="Rectangle 14"/>
          <p:cNvSpPr/>
          <p:nvPr/>
        </p:nvSpPr>
        <p:spPr>
          <a:xfrm>
            <a:off x="11704320" y="7178040"/>
            <a:ext cx="4937760" cy="160020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78640" y="7178040"/>
            <a:ext cx="4389120" cy="1600200"/>
          </a:xfrm>
          <a:prstGeom prst="rect">
            <a:avLst/>
          </a:prstGeom>
          <a:noFill/>
        </p:spPr>
        <p:txBody>
          <a:bodyPr wrap="square" lIns="0" rIns="0" tIns="0" bIns="0" anchor="ctr">
            <a:noAutofit/>
          </a:bodyPr>
          <a:lstStyle/>
          <a:p>
            <a:pPr algn="l"/>
            <a:r>
              <a:rPr sz="2600" b="1" i="0">
                <a:solidFill>
                  <a:srgbClr val="6D3720"/>
                </a:solidFill>
                <a:latin typeface="Barlow"/>
              </a:rPr>
              <a:t>Conserva binarios</a:t>
            </a:r>
          </a:p>
          <a:p>
            <a:pPr algn="l"/>
            <a:r>
              <a:rPr sz="2600" b="0" i="0">
                <a:solidFill>
                  <a:srgbClr val="421E0F"/>
                </a:solidFill>
                <a:latin typeface="Barlow"/>
              </a:rPr>
              <a:t>como artefacto.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sp>
        <p:nvSpPr>
          <p:cNvPr name="AutoShape 11" id="11"/>
          <p:cNvSpPr/>
          <p:nvPr/>
        </p:nvSpPr>
        <p:spPr>
          <a:xfrm>
            <a:off x="-394459" y="2311260"/>
            <a:ext cx="9916504" cy="0"/>
          </a:xfrm>
          <a:prstGeom prst="line">
            <a:avLst/>
          </a:prstGeom>
          <a:ln cap="flat" w="38100">
            <a:solidFill>
              <a:srgbClr val="6D3720"/>
            </a:solidFill>
            <a:prstDash val="solid"/>
            <a:headEnd type="diamond" len="lg" w="lg"/>
            <a:tailEnd type="diamond" len="lg" w="lg"/>
          </a:ln>
        </p:spPr>
      </p:sp>
      <p:grpSp>
        <p:nvGrpSpPr>
          <p:cNvPr name="Group 12" id="12"/>
          <p:cNvGrpSpPr/>
          <p:nvPr/>
        </p:nvGrpSpPr>
        <p:grpSpPr>
          <a:xfrm rot="5400000">
            <a:off x="13144500" y="4057512"/>
            <a:ext cx="10287000" cy="2171976"/>
            <a:chOff x="0" y="0"/>
            <a:chExt cx="735852" cy="155366"/>
          </a:xfrm>
        </p:grpSpPr>
        <p:sp>
          <p:nvSpPr>
            <p:cNvPr name="Freeform 13" id="13"/>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14" id="14"/>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15" name="Título"/>
          <p:cNvSpPr txBox="1"/>
          <p:nvPr/>
        </p:nvSpPr>
        <p:spPr>
          <a:xfrm>
            <a:off x="1005840" y="457200"/>
            <a:ext cx="15087600" cy="1691640"/>
          </a:xfrm>
          <a:prstGeom prst="rect">
            <a:avLst/>
          </a:prstGeom>
          <a:noFill/>
        </p:spPr>
        <p:txBody>
          <a:bodyPr wrap="square" lIns="0" rIns="0" tIns="0" bIns="0" anchor="b">
            <a:noAutofit/>
          </a:bodyPr>
          <a:lstStyle/>
          <a:p>
            <a:pPr algn="l"/>
            <a:r>
              <a:rPr sz="5400" b="1" i="0">
                <a:solidFill>
                  <a:srgbClr val="421E0F"/>
                </a:solidFill>
                <a:latin typeface="Cormorant Garamond Bold"/>
              </a:rPr>
              <a:t>Una prueba previa descubre un fallo de guardado</a:t>
            </a:r>
          </a:p>
        </p:txBody>
      </p:sp>
      <p:sp>
        <p:nvSpPr>
          <p:cNvPr id="16" name="Rectangle 15"/>
          <p:cNvSpPr/>
          <p:nvPr/>
        </p:nvSpPr>
        <p:spPr>
          <a:xfrm>
            <a:off x="1005840" y="2743200"/>
            <a:ext cx="7315200" cy="502920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 y="2743200"/>
            <a:ext cx="7315200" cy="100584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2743200"/>
            <a:ext cx="6583680" cy="1005840"/>
          </a:xfrm>
          <a:prstGeom prst="rect">
            <a:avLst/>
          </a:prstGeom>
          <a:noFill/>
        </p:spPr>
        <p:txBody>
          <a:bodyPr wrap="square" lIns="0" rIns="0" tIns="0" bIns="0" anchor="ctr">
            <a:noAutofit/>
          </a:bodyPr>
          <a:lstStyle/>
          <a:p>
            <a:pPr algn="l"/>
            <a:r>
              <a:rPr sz="3000" b="1" i="0">
                <a:solidFill>
                  <a:srgbClr val="FFFFFF"/>
                </a:solidFill>
                <a:latin typeface="Barlow"/>
              </a:rPr>
              <a:t>ANTES · ead1743</a:t>
            </a:r>
          </a:p>
        </p:txBody>
      </p:sp>
      <p:sp>
        <p:nvSpPr>
          <p:cNvPr id="19" name="Rectangle 18"/>
          <p:cNvSpPr/>
          <p:nvPr/>
        </p:nvSpPr>
        <p:spPr>
          <a:xfrm>
            <a:off x="1371600" y="4270248"/>
            <a:ext cx="219456" cy="219456"/>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4069080"/>
            <a:ext cx="6217920" cy="640080"/>
          </a:xfrm>
          <a:prstGeom prst="rect">
            <a:avLst/>
          </a:prstGeom>
          <a:noFill/>
        </p:spPr>
        <p:txBody>
          <a:bodyPr wrap="square" lIns="0" rIns="0" tIns="0" bIns="0" anchor="ctr">
            <a:noAutofit/>
          </a:bodyPr>
          <a:lstStyle/>
          <a:p>
            <a:pPr algn="l"/>
            <a:r>
              <a:rPr sz="2800" b="0" i="0">
                <a:solidFill>
                  <a:srgbClr val="421E0F"/>
                </a:solidFill>
                <a:latin typeface="Barlow"/>
              </a:rPr>
              <a:t>El destino XML está bloqueado.</a:t>
            </a:r>
          </a:p>
        </p:txBody>
      </p:sp>
      <p:sp>
        <p:nvSpPr>
          <p:cNvPr id="21" name="Rectangle 20"/>
          <p:cNvSpPr/>
          <p:nvPr/>
        </p:nvSpPr>
        <p:spPr>
          <a:xfrm>
            <a:off x="1371600" y="5184648"/>
            <a:ext cx="219456" cy="219456"/>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0" y="4983480"/>
            <a:ext cx="6217920" cy="640080"/>
          </a:xfrm>
          <a:prstGeom prst="rect">
            <a:avLst/>
          </a:prstGeom>
          <a:noFill/>
        </p:spPr>
        <p:txBody>
          <a:bodyPr wrap="square" lIns="0" rIns="0" tIns="0" bIns="0" anchor="ctr">
            <a:noAutofit/>
          </a:bodyPr>
          <a:lstStyle/>
          <a:p>
            <a:pPr algn="l"/>
            <a:r>
              <a:rPr sz="2800" b="0" i="0">
                <a:solidFill>
                  <a:srgbClr val="421E0F"/>
                </a:solidFill>
                <a:latin typeface="Barlow"/>
              </a:rPr>
              <a:t>El guardado falla.</a:t>
            </a:r>
          </a:p>
        </p:txBody>
      </p:sp>
      <p:sp>
        <p:nvSpPr>
          <p:cNvPr id="23" name="Rectangle 22"/>
          <p:cNvSpPr/>
          <p:nvPr/>
        </p:nvSpPr>
        <p:spPr>
          <a:xfrm>
            <a:off x="1371600" y="6099048"/>
            <a:ext cx="219456" cy="219456"/>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0" y="5897880"/>
            <a:ext cx="6217920" cy="640080"/>
          </a:xfrm>
          <a:prstGeom prst="rect">
            <a:avLst/>
          </a:prstGeom>
          <a:noFill/>
        </p:spPr>
        <p:txBody>
          <a:bodyPr wrap="square" lIns="0" rIns="0" tIns="0" bIns="0" anchor="ctr">
            <a:noAutofit/>
          </a:bodyPr>
          <a:lstStyle/>
          <a:p>
            <a:pPr algn="l"/>
            <a:r>
              <a:rPr sz="2800" b="0" i="0">
                <a:solidFill>
                  <a:srgbClr val="421E0F"/>
                </a:solidFill>
                <a:latin typeface="Barlow"/>
              </a:rPr>
              <a:t>Queda un temporal propio.</a:t>
            </a:r>
          </a:p>
        </p:txBody>
      </p:sp>
      <p:sp>
        <p:nvSpPr>
          <p:cNvPr id="25" name="Rectangle 24"/>
          <p:cNvSpPr/>
          <p:nvPr/>
        </p:nvSpPr>
        <p:spPr>
          <a:xfrm>
            <a:off x="1371600" y="7013448"/>
            <a:ext cx="219456" cy="219456"/>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0" y="6812280"/>
            <a:ext cx="6217920" cy="640080"/>
          </a:xfrm>
          <a:prstGeom prst="rect">
            <a:avLst/>
          </a:prstGeom>
          <a:noFill/>
        </p:spPr>
        <p:txBody>
          <a:bodyPr wrap="square" lIns="0" rIns="0" tIns="0" bIns="0" anchor="ctr">
            <a:noAutofit/>
          </a:bodyPr>
          <a:lstStyle/>
          <a:p>
            <a:pPr algn="l"/>
            <a:r>
              <a:rPr sz="2800" b="0" i="0">
                <a:solidFill>
                  <a:srgbClr val="421E0F"/>
                </a:solidFill>
                <a:latin typeface="Barlow"/>
              </a:rPr>
              <a:t>La prueba de regresión falla.</a:t>
            </a:r>
          </a:p>
        </p:txBody>
      </p:sp>
      <p:sp>
        <p:nvSpPr>
          <p:cNvPr id="27" name="Rectangle 26"/>
          <p:cNvSpPr/>
          <p:nvPr/>
        </p:nvSpPr>
        <p:spPr>
          <a:xfrm>
            <a:off x="8823960" y="2743200"/>
            <a:ext cx="7315200" cy="502920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2743200"/>
            <a:ext cx="7315200" cy="1005840"/>
          </a:xfrm>
          <a:prstGeom prst="rect">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89720" y="2743200"/>
            <a:ext cx="6583680" cy="1005840"/>
          </a:xfrm>
          <a:prstGeom prst="rect">
            <a:avLst/>
          </a:prstGeom>
          <a:noFill/>
        </p:spPr>
        <p:txBody>
          <a:bodyPr wrap="square" lIns="0" rIns="0" tIns="0" bIns="0" anchor="ctr">
            <a:noAutofit/>
          </a:bodyPr>
          <a:lstStyle/>
          <a:p>
            <a:pPr algn="l"/>
            <a:r>
              <a:rPr sz="3000" b="1" i="0">
                <a:solidFill>
                  <a:srgbClr val="FFFFFF"/>
                </a:solidFill>
                <a:latin typeface="Barlow"/>
              </a:rPr>
              <a:t>DESPUÉS · 074a9fc</a:t>
            </a:r>
          </a:p>
        </p:txBody>
      </p:sp>
      <p:sp>
        <p:nvSpPr>
          <p:cNvPr id="30" name="Rectangle 29"/>
          <p:cNvSpPr/>
          <p:nvPr/>
        </p:nvSpPr>
        <p:spPr>
          <a:xfrm>
            <a:off x="9189720" y="4270248"/>
            <a:ext cx="219456" cy="219456"/>
          </a:xfrm>
          <a:prstGeom prst="rect">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46920" y="4069080"/>
            <a:ext cx="6217920" cy="640080"/>
          </a:xfrm>
          <a:prstGeom prst="rect">
            <a:avLst/>
          </a:prstGeom>
          <a:noFill/>
        </p:spPr>
        <p:txBody>
          <a:bodyPr wrap="square" lIns="0" rIns="0" tIns="0" bIns="0" anchor="ctr">
            <a:noAutofit/>
          </a:bodyPr>
          <a:lstStyle/>
          <a:p>
            <a:pPr algn="l"/>
            <a:r>
              <a:rPr sz="2800" b="0" i="0">
                <a:solidFill>
                  <a:srgbClr val="421E0F"/>
                </a:solidFill>
                <a:latin typeface="Barlow"/>
              </a:rPr>
              <a:t>finally limpia el temporal propio.</a:t>
            </a:r>
          </a:p>
        </p:txBody>
      </p:sp>
      <p:sp>
        <p:nvSpPr>
          <p:cNvPr id="32" name="Rectangle 31"/>
          <p:cNvSpPr/>
          <p:nvPr/>
        </p:nvSpPr>
        <p:spPr>
          <a:xfrm>
            <a:off x="9189720" y="5184648"/>
            <a:ext cx="219456" cy="219456"/>
          </a:xfrm>
          <a:prstGeom prst="rect">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6920" y="4983480"/>
            <a:ext cx="6217920" cy="640080"/>
          </a:xfrm>
          <a:prstGeom prst="rect">
            <a:avLst/>
          </a:prstGeom>
          <a:noFill/>
        </p:spPr>
        <p:txBody>
          <a:bodyPr wrap="square" lIns="0" rIns="0" tIns="0" bIns="0" anchor="ctr">
            <a:noAutofit/>
          </a:bodyPr>
          <a:lstStyle/>
          <a:p>
            <a:pPr algn="l"/>
            <a:r>
              <a:rPr sz="2800" b="0" i="0">
                <a:solidFill>
                  <a:srgbClr val="421E0F"/>
                </a:solidFill>
                <a:latin typeface="Barlow"/>
              </a:rPr>
              <a:t>Conserva el XML original.</a:t>
            </a:r>
          </a:p>
        </p:txBody>
      </p:sp>
      <p:sp>
        <p:nvSpPr>
          <p:cNvPr id="34" name="Rectangle 33"/>
          <p:cNvSpPr/>
          <p:nvPr/>
        </p:nvSpPr>
        <p:spPr>
          <a:xfrm>
            <a:off x="9189720" y="6099048"/>
            <a:ext cx="219456" cy="219456"/>
          </a:xfrm>
          <a:prstGeom prst="rect">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46920" y="5897880"/>
            <a:ext cx="6217920" cy="640080"/>
          </a:xfrm>
          <a:prstGeom prst="rect">
            <a:avLst/>
          </a:prstGeom>
          <a:noFill/>
        </p:spPr>
        <p:txBody>
          <a:bodyPr wrap="square" lIns="0" rIns="0" tIns="0" bIns="0" anchor="ctr">
            <a:noAutofit/>
          </a:bodyPr>
          <a:lstStyle/>
          <a:p>
            <a:pPr algn="l"/>
            <a:r>
              <a:rPr sz="2800" b="0" i="0">
                <a:solidFill>
                  <a:srgbClr val="421E0F"/>
                </a:solidFill>
                <a:latin typeface="Barlow"/>
              </a:rPr>
              <a:t>Preserva el error de guardado.</a:t>
            </a:r>
          </a:p>
        </p:txBody>
      </p:sp>
      <p:sp>
        <p:nvSpPr>
          <p:cNvPr id="36" name="Rectangle 35"/>
          <p:cNvSpPr/>
          <p:nvPr/>
        </p:nvSpPr>
        <p:spPr>
          <a:xfrm>
            <a:off x="9189720" y="7013448"/>
            <a:ext cx="219456" cy="219456"/>
          </a:xfrm>
          <a:prstGeom prst="rect">
            <a:avLst/>
          </a:prstGeom>
          <a:solidFill>
            <a:srgbClr val="421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6920" y="6812280"/>
            <a:ext cx="6217920" cy="640080"/>
          </a:xfrm>
          <a:prstGeom prst="rect">
            <a:avLst/>
          </a:prstGeom>
          <a:noFill/>
        </p:spPr>
        <p:txBody>
          <a:bodyPr wrap="square" lIns="0" rIns="0" tIns="0" bIns="0" anchor="ctr">
            <a:noAutofit/>
          </a:bodyPr>
          <a:lstStyle/>
          <a:p>
            <a:pPr algn="l"/>
            <a:r>
              <a:rPr sz="2800" b="0" i="0">
                <a:solidFill>
                  <a:srgbClr val="421E0F"/>
                </a:solidFill>
                <a:latin typeface="Barlow"/>
              </a:rPr>
              <a:t>Los nueve grupos aprueban.</a:t>
            </a:r>
          </a:p>
        </p:txBody>
      </p:sp>
      <p:sp>
        <p:nvSpPr>
          <p:cNvPr id="38" name="TextBox 37"/>
          <p:cNvSpPr txBox="1"/>
          <p:nvPr/>
        </p:nvSpPr>
        <p:spPr>
          <a:xfrm>
            <a:off x="1005840" y="8183879"/>
            <a:ext cx="15087600" cy="1463040"/>
          </a:xfrm>
          <a:prstGeom prst="rect">
            <a:avLst/>
          </a:prstGeom>
          <a:noFill/>
        </p:spPr>
        <p:txBody>
          <a:bodyPr wrap="square" lIns="0" rIns="0" tIns="0" bIns="0" anchor="t">
            <a:noAutofit/>
          </a:bodyPr>
          <a:lstStyle/>
          <a:p>
            <a:pPr algn="l">
              <a:spcAft>
                <a:spcPts val="400"/>
              </a:spcAft>
            </a:pPr>
            <a:r>
              <a:rPr sz="2600" b="0" i="0">
                <a:solidFill>
                  <a:srgbClr val="6D3720"/>
                </a:solidFill>
                <a:latin typeface="Barlow"/>
              </a:rPr>
              <a:t>La base recibió pruebas después del código. Esta evolución sí conserva una prueba fallida anterior al arreglo.</a:t>
            </a:r>
          </a:p>
          <a:p>
            <a:pPr algn="l">
              <a:spcAft>
                <a:spcPts val="400"/>
              </a:spcAft>
            </a:pPr>
            <a:r>
              <a:rPr sz="2600" b="0" i="0">
                <a:solidFill>
                  <a:srgbClr val="6D3720"/>
                </a:solidFill>
                <a:latin typeface="Barlow"/>
              </a:rPr>
              <a:t>No acredita TDD de toda la aplicación.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4" id="4"/>
          <p:cNvGrpSpPr/>
          <p:nvPr/>
        </p:nvGrpSpPr>
        <p:grpSpPr>
          <a:xfrm rot="5400000">
            <a:off x="13144500" y="4057512"/>
            <a:ext cx="10287000" cy="2171976"/>
            <a:chOff x="0" y="0"/>
            <a:chExt cx="735852" cy="155366"/>
          </a:xfrm>
        </p:grpSpPr>
        <p:sp>
          <p:nvSpPr>
            <p:cNvPr name="Freeform 5" id="5"/>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6" id="6"/>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7" name="Título"/>
          <p:cNvSpPr txBox="1"/>
          <p:nvPr/>
        </p:nvSpPr>
        <p:spPr>
          <a:xfrm>
            <a:off x="1005840" y="731520"/>
            <a:ext cx="15087600" cy="1280160"/>
          </a:xfrm>
          <a:prstGeom prst="rect">
            <a:avLst/>
          </a:prstGeom>
          <a:noFill/>
        </p:spPr>
        <p:txBody>
          <a:bodyPr wrap="square" lIns="0" rIns="0" tIns="0" bIns="0" anchor="b">
            <a:noAutofit/>
          </a:bodyPr>
          <a:lstStyle/>
          <a:p>
            <a:pPr algn="l"/>
            <a:r>
              <a:rPr sz="5400" b="1" i="0">
                <a:solidFill>
                  <a:srgbClr val="421E0F"/>
                </a:solidFill>
                <a:latin typeface="Cormorant Garamond Bold"/>
              </a:rPr>
              <a:t>Seguimiento y adopción gradual</a:t>
            </a:r>
          </a:p>
        </p:txBody>
      </p:sp>
      <p:pic>
        <p:nvPicPr>
          <p:cNvPr id="8" name="Picture 7" descr="Tablero del proyecto en GitHub"/>
          <p:cNvPicPr>
            <a:picLocks noChangeAspect="1"/>
          </p:cNvPicPr>
          <p:nvPr/>
        </p:nvPicPr>
        <p:blipFill>
          <a:blip r:embed="rId3"/>
          <a:stretch>
            <a:fillRect/>
          </a:stretch>
        </p:blipFill>
        <p:spPr>
          <a:xfrm>
            <a:off x="1005840" y="2651760"/>
            <a:ext cx="8778240" cy="4937760"/>
          </a:xfrm>
          <a:prstGeom prst="rect">
            <a:avLst/>
          </a:prstGeom>
          <a:ln w="31750">
            <a:solidFill>
              <a:srgbClr val="6D3720"/>
            </a:solidFill>
          </a:ln>
        </p:spPr>
      </p:pic>
      <p:sp>
        <p:nvSpPr>
          <p:cNvPr id="9" name="Rectangle 8"/>
          <p:cNvSpPr/>
          <p:nvPr/>
        </p:nvSpPr>
        <p:spPr>
          <a:xfrm>
            <a:off x="10241280" y="2651760"/>
            <a:ext cx="5852160" cy="274320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0" y="2788920"/>
            <a:ext cx="5394960" cy="2560320"/>
          </a:xfrm>
          <a:prstGeom prst="rect">
            <a:avLst/>
          </a:prstGeom>
          <a:noFill/>
        </p:spPr>
        <p:txBody>
          <a:bodyPr wrap="square" lIns="0" rIns="0" tIns="0" bIns="0" anchor="t">
            <a:noAutofit/>
          </a:bodyPr>
          <a:lstStyle/>
          <a:p>
            <a:pPr algn="l">
              <a:spcAft>
                <a:spcPts val="600"/>
              </a:spcAft>
            </a:pPr>
            <a:r>
              <a:rPr sz="2000" b="1" i="0">
                <a:solidFill>
                  <a:srgbClr val="6D3720"/>
                </a:solidFill>
                <a:latin typeface="Barlow"/>
              </a:rPr>
              <a:t>EN MARCHA</a:t>
            </a:r>
          </a:p>
          <a:p>
            <a:pPr algn="l">
              <a:spcAft>
                <a:spcPts val="600"/>
              </a:spcAft>
            </a:pPr>
            <a:r>
              <a:rPr sz="2600" b="0" i="0">
                <a:solidFill>
                  <a:srgbClr val="421E0F"/>
                </a:solidFill>
                <a:latin typeface="Barlow"/>
              </a:rPr>
              <a:t>Issues con aceptación.</a:t>
            </a:r>
          </a:p>
          <a:p>
            <a:pPr algn="l">
              <a:spcAft>
                <a:spcPts val="600"/>
              </a:spcAft>
            </a:pPr>
            <a:r>
              <a:rPr sz="2600" b="0" i="0">
                <a:solidFill>
                  <a:srgbClr val="421E0F"/>
                </a:solidFill>
                <a:latin typeface="Barlow"/>
              </a:rPr>
              <a:t>Tablero Kanban.</a:t>
            </a:r>
          </a:p>
          <a:p>
            <a:pPr algn="l">
              <a:spcAft>
                <a:spcPts val="600"/>
              </a:spcAft>
            </a:pPr>
            <a:r>
              <a:rPr sz="2600" b="0" i="0">
                <a:solidFill>
                  <a:srgbClr val="421E0F"/>
                </a:solidFill>
                <a:latin typeface="Barlow"/>
              </a:rPr>
              <a:t>Milestone del parcial.</a:t>
            </a:r>
          </a:p>
        </p:txBody>
      </p:sp>
      <p:sp>
        <p:nvSpPr>
          <p:cNvPr id="11" name="Rectangle 10"/>
          <p:cNvSpPr/>
          <p:nvPr/>
        </p:nvSpPr>
        <p:spPr>
          <a:xfrm>
            <a:off x="10241280" y="5623560"/>
            <a:ext cx="5852160" cy="173736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0" y="5715000"/>
            <a:ext cx="5394960" cy="1554480"/>
          </a:xfrm>
          <a:prstGeom prst="rect">
            <a:avLst/>
          </a:prstGeom>
          <a:noFill/>
        </p:spPr>
        <p:txBody>
          <a:bodyPr wrap="square" lIns="0" rIns="0" tIns="0" bIns="0" anchor="t">
            <a:noAutofit/>
          </a:bodyPr>
          <a:lstStyle/>
          <a:p>
            <a:pPr algn="l">
              <a:spcAft>
                <a:spcPts val="400"/>
              </a:spcAft>
            </a:pPr>
            <a:r>
              <a:rPr sz="2000" b="1" i="0">
                <a:solidFill>
                  <a:srgbClr val="6D3720"/>
                </a:solidFill>
                <a:latin typeface="Barlow"/>
              </a:rPr>
              <a:t>PENDIENTE</a:t>
            </a:r>
          </a:p>
          <a:p>
            <a:pPr algn="l">
              <a:spcAft>
                <a:spcPts val="400"/>
              </a:spcAft>
            </a:pPr>
            <a:r>
              <a:rPr sz="2600" b="0" i="0">
                <a:solidFill>
                  <a:srgbClr val="421E0F"/>
                </a:solidFill>
                <a:latin typeface="Barlow"/>
              </a:rPr>
              <a:t>Revisión y documentos finales.</a:t>
            </a:r>
          </a:p>
        </p:txBody>
      </p:sp>
      <p:sp>
        <p:nvSpPr>
          <p:cNvPr id="13" name="Rectangle 12"/>
          <p:cNvSpPr/>
          <p:nvPr/>
        </p:nvSpPr>
        <p:spPr>
          <a:xfrm>
            <a:off x="10241280" y="7589520"/>
            <a:ext cx="5852160" cy="1737360"/>
          </a:xfrm>
          <a:prstGeom prst="rect">
            <a:avLst/>
          </a:prstGeom>
          <a:solidFill>
            <a:srgbClr val="6D3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0" y="7680960"/>
            <a:ext cx="5394960" cy="1554480"/>
          </a:xfrm>
          <a:prstGeom prst="rect">
            <a:avLst/>
          </a:prstGeom>
          <a:noFill/>
        </p:spPr>
        <p:txBody>
          <a:bodyPr wrap="square" lIns="0" rIns="0" tIns="0" bIns="0" anchor="t">
            <a:noAutofit/>
          </a:bodyPr>
          <a:lstStyle/>
          <a:p>
            <a:pPr algn="l">
              <a:spcAft>
                <a:spcPts val="400"/>
              </a:spcAft>
            </a:pPr>
            <a:r>
              <a:rPr sz="2000" b="1" i="0">
                <a:solidFill>
                  <a:srgbClr val="FFFFFF"/>
                </a:solidFill>
                <a:latin typeface="Barlow"/>
              </a:rPr>
              <a:t>PROPUESTA</a:t>
            </a:r>
          </a:p>
          <a:p>
            <a:pPr algn="l">
              <a:spcAft>
                <a:spcPts val="400"/>
              </a:spcAft>
            </a:pPr>
            <a:r>
              <a:rPr sz="2600" b="0" i="0">
                <a:solidFill>
                  <a:srgbClr val="FFFFFF"/>
                </a:solidFill>
                <a:latin typeface="Barlow"/>
              </a:rPr>
              <a:t>Piloto, medición y ajuste.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13" id="13"/>
          <p:cNvGrpSpPr/>
          <p:nvPr/>
        </p:nvGrpSpPr>
        <p:grpSpPr>
          <a:xfrm rot="5400000">
            <a:off x="-5143500" y="4057512"/>
            <a:ext cx="10287000" cy="2171976"/>
            <a:chOff x="0" y="0"/>
            <a:chExt cx="735852" cy="155366"/>
          </a:xfrm>
        </p:grpSpPr>
        <p:sp>
          <p:nvSpPr>
            <p:cNvPr name="Freeform 14" id="14"/>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15" id="15"/>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name="AutoShape 16" id="16"/>
          <p:cNvSpPr/>
          <p:nvPr/>
        </p:nvSpPr>
        <p:spPr>
          <a:xfrm flipH="true">
            <a:off x="17223101" y="-796024"/>
            <a:ext cx="0" cy="4123663"/>
          </a:xfrm>
          <a:prstGeom prst="line">
            <a:avLst/>
          </a:prstGeom>
          <a:ln cap="flat" w="38100">
            <a:solidFill>
              <a:srgbClr val="6D3720"/>
            </a:solidFill>
            <a:prstDash val="solid"/>
            <a:headEnd type="diamond" len="lg" w="lg"/>
            <a:tailEnd type="diamond" len="lg" w="lg"/>
          </a:ln>
        </p:spPr>
      </p:sp>
      <p:sp>
        <p:nvSpPr>
          <p:cNvPr id="17" name="Título"/>
          <p:cNvSpPr txBox="1"/>
          <p:nvPr/>
        </p:nvSpPr>
        <p:spPr>
          <a:xfrm>
            <a:off x="1828800" y="731520"/>
            <a:ext cx="14813280" cy="1280160"/>
          </a:xfrm>
          <a:prstGeom prst="rect">
            <a:avLst/>
          </a:prstGeom>
          <a:noFill/>
        </p:spPr>
        <p:txBody>
          <a:bodyPr wrap="square" lIns="0" rIns="0" tIns="0" bIns="0" anchor="b">
            <a:noAutofit/>
          </a:bodyPr>
          <a:lstStyle/>
          <a:p>
            <a:pPr algn="l"/>
            <a:r>
              <a:rPr sz="5400" b="1" i="0">
                <a:solidFill>
                  <a:srgbClr val="421E0F"/>
                </a:solidFill>
                <a:latin typeface="Cormorant Garamond Bold"/>
              </a:rPr>
              <a:t>Conclusiones y reflexiones del equipo</a:t>
            </a:r>
          </a:p>
        </p:txBody>
      </p:sp>
      <p:sp>
        <p:nvSpPr>
          <p:cNvPr id="18" name="Rectangle 17"/>
          <p:cNvSpPr/>
          <p:nvPr/>
        </p:nvSpPr>
        <p:spPr>
          <a:xfrm>
            <a:off x="1828800" y="2651760"/>
            <a:ext cx="7315200" cy="310896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94560" y="2926079"/>
            <a:ext cx="6583680" cy="1188720"/>
          </a:xfrm>
          <a:prstGeom prst="rect">
            <a:avLst/>
          </a:prstGeom>
          <a:noFill/>
        </p:spPr>
        <p:txBody>
          <a:bodyPr wrap="square" lIns="0" rIns="0" tIns="0" bIns="0" anchor="t">
            <a:noAutofit/>
          </a:bodyPr>
          <a:lstStyle/>
          <a:p>
            <a:pPr algn="l"/>
            <a:r>
              <a:rPr sz="2600" b="1" i="0">
                <a:solidFill>
                  <a:srgbClr val="6D3720"/>
                </a:solidFill>
                <a:latin typeface="Barlow"/>
              </a:rPr>
              <a:t>¿Qué problema resuelve Git en el desarrollo real?</a:t>
            </a:r>
          </a:p>
        </p:txBody>
      </p:sp>
      <p:sp>
        <p:nvSpPr>
          <p:cNvPr id="20" name="TextBox 19"/>
          <p:cNvSpPr txBox="1"/>
          <p:nvPr/>
        </p:nvSpPr>
        <p:spPr>
          <a:xfrm>
            <a:off x="2194560" y="4206240"/>
            <a:ext cx="6583680" cy="1463040"/>
          </a:xfrm>
          <a:prstGeom prst="rect">
            <a:avLst/>
          </a:prstGeom>
          <a:noFill/>
        </p:spPr>
        <p:txBody>
          <a:bodyPr wrap="square" lIns="0" rIns="0" tIns="0" bIns="0" anchor="t">
            <a:noAutofit/>
          </a:bodyPr>
          <a:lstStyle/>
          <a:p>
            <a:pPr algn="l"/>
            <a:r>
              <a:rPr sz="2800" b="0" i="0">
                <a:solidFill>
                  <a:srgbClr val="421E0F"/>
                </a:solidFill>
                <a:latin typeface="Barlow"/>
              </a:rPr>
              <a:t>Conserva versiones y permite recuperar y coordinar cambios.</a:t>
            </a:r>
          </a:p>
        </p:txBody>
      </p:sp>
      <p:sp>
        <p:nvSpPr>
          <p:cNvPr id="21" name="Rectangle 20"/>
          <p:cNvSpPr/>
          <p:nvPr/>
        </p:nvSpPr>
        <p:spPr>
          <a:xfrm>
            <a:off x="9509760" y="2651760"/>
            <a:ext cx="7315200" cy="310896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0" y="2926079"/>
            <a:ext cx="6583680" cy="1188720"/>
          </a:xfrm>
          <a:prstGeom prst="rect">
            <a:avLst/>
          </a:prstGeom>
          <a:noFill/>
        </p:spPr>
        <p:txBody>
          <a:bodyPr wrap="square" lIns="0" rIns="0" tIns="0" bIns="0" anchor="t">
            <a:noAutofit/>
          </a:bodyPr>
          <a:lstStyle/>
          <a:p>
            <a:pPr algn="l"/>
            <a:r>
              <a:rPr sz="2600" b="1" i="0">
                <a:solidFill>
                  <a:srgbClr val="6D3720"/>
                </a:solidFill>
                <a:latin typeface="Barlow"/>
              </a:rPr>
              <a:t>¿Por qué DevOps es importante en la actualidad?</a:t>
            </a:r>
          </a:p>
        </p:txBody>
      </p:sp>
      <p:sp>
        <p:nvSpPr>
          <p:cNvPr id="23" name="TextBox 22"/>
          <p:cNvSpPr txBox="1"/>
          <p:nvPr/>
        </p:nvSpPr>
        <p:spPr>
          <a:xfrm>
            <a:off x="9875520" y="4206240"/>
            <a:ext cx="6583680" cy="1463040"/>
          </a:xfrm>
          <a:prstGeom prst="rect">
            <a:avLst/>
          </a:prstGeom>
          <a:noFill/>
        </p:spPr>
        <p:txBody>
          <a:bodyPr wrap="square" lIns="0" rIns="0" tIns="0" bIns="0" anchor="t">
            <a:noAutofit/>
          </a:bodyPr>
          <a:lstStyle/>
          <a:p>
            <a:pPr algn="l"/>
            <a:r>
              <a:rPr sz="2800" b="0" i="0">
                <a:solidFill>
                  <a:srgbClr val="421E0F"/>
                </a:solidFill>
                <a:latin typeface="Barlow"/>
              </a:rPr>
              <a:t>Repite validaciones y reduce errores al distribuir versiones.</a:t>
            </a:r>
          </a:p>
        </p:txBody>
      </p:sp>
      <p:sp>
        <p:nvSpPr>
          <p:cNvPr id="24" name="Rectangle 23"/>
          <p:cNvSpPr/>
          <p:nvPr/>
        </p:nvSpPr>
        <p:spPr>
          <a:xfrm>
            <a:off x="1828800" y="6035040"/>
            <a:ext cx="7315200" cy="310896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6309359"/>
            <a:ext cx="6583680" cy="1188720"/>
          </a:xfrm>
          <a:prstGeom prst="rect">
            <a:avLst/>
          </a:prstGeom>
          <a:noFill/>
        </p:spPr>
        <p:txBody>
          <a:bodyPr wrap="square" lIns="0" rIns="0" tIns="0" bIns="0" anchor="t">
            <a:noAutofit/>
          </a:bodyPr>
          <a:lstStyle/>
          <a:p>
            <a:pPr algn="l"/>
            <a:r>
              <a:rPr sz="2600" b="1" i="0">
                <a:solidFill>
                  <a:srgbClr val="6D3720"/>
                </a:solidFill>
                <a:latin typeface="Barlow"/>
              </a:rPr>
              <a:t>¿Cómo la IA está cambiando la programación?</a:t>
            </a:r>
          </a:p>
        </p:txBody>
      </p:sp>
      <p:sp>
        <p:nvSpPr>
          <p:cNvPr id="26" name="TextBox 25"/>
          <p:cNvSpPr txBox="1"/>
          <p:nvPr/>
        </p:nvSpPr>
        <p:spPr>
          <a:xfrm>
            <a:off x="2194560" y="7589519"/>
            <a:ext cx="6583680" cy="1463040"/>
          </a:xfrm>
          <a:prstGeom prst="rect">
            <a:avLst/>
          </a:prstGeom>
          <a:noFill/>
        </p:spPr>
        <p:txBody>
          <a:bodyPr wrap="square" lIns="0" rIns="0" tIns="0" bIns="0" anchor="t">
            <a:noAutofit/>
          </a:bodyPr>
          <a:lstStyle/>
          <a:p>
            <a:pPr algn="l"/>
            <a:r>
              <a:rPr sz="2800" b="0" i="0">
                <a:solidFill>
                  <a:srgbClr val="421E0F"/>
                </a:solidFill>
                <a:latin typeface="Barlow"/>
              </a:rPr>
              <a:t>Genera código y desplaza esfuerzo hacia especificar y verificar.</a:t>
            </a:r>
          </a:p>
        </p:txBody>
      </p:sp>
      <p:sp>
        <p:nvSpPr>
          <p:cNvPr id="27" name="Rectangle 26"/>
          <p:cNvSpPr/>
          <p:nvPr/>
        </p:nvSpPr>
        <p:spPr>
          <a:xfrm>
            <a:off x="9509760" y="6035040"/>
            <a:ext cx="7315200" cy="3108960"/>
          </a:xfrm>
          <a:prstGeom prst="rect">
            <a:avLst/>
          </a:prstGeom>
          <a:solidFill>
            <a:srgbClr val="FFFFFF"/>
          </a:solidFill>
          <a:ln w="12700">
            <a:solidFill>
              <a:srgbClr val="D8C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0" y="6309359"/>
            <a:ext cx="6583680" cy="1188720"/>
          </a:xfrm>
          <a:prstGeom prst="rect">
            <a:avLst/>
          </a:prstGeom>
          <a:noFill/>
        </p:spPr>
        <p:txBody>
          <a:bodyPr wrap="square" lIns="0" rIns="0" tIns="0" bIns="0" anchor="t">
            <a:noAutofit/>
          </a:bodyPr>
          <a:lstStyle/>
          <a:p>
            <a:pPr algn="l"/>
            <a:r>
              <a:rPr sz="2600" b="1" i="0">
                <a:solidFill>
                  <a:srgbClr val="6D3720"/>
                </a:solidFill>
                <a:latin typeface="Barlow"/>
              </a:rPr>
              <a:t>¿Qué herramienta fue más útil y por qué?</a:t>
            </a:r>
          </a:p>
        </p:txBody>
      </p:sp>
      <p:sp>
        <p:nvSpPr>
          <p:cNvPr id="29" name="TextBox 28"/>
          <p:cNvSpPr txBox="1"/>
          <p:nvPr/>
        </p:nvSpPr>
        <p:spPr>
          <a:xfrm>
            <a:off x="9875520" y="7589519"/>
            <a:ext cx="6583680" cy="1463040"/>
          </a:xfrm>
          <a:prstGeom prst="rect">
            <a:avLst/>
          </a:prstGeom>
          <a:noFill/>
        </p:spPr>
        <p:txBody>
          <a:bodyPr wrap="square" lIns="0" rIns="0" tIns="0" bIns="0" anchor="t">
            <a:noAutofit/>
          </a:bodyPr>
          <a:lstStyle/>
          <a:p>
            <a:pPr algn="l"/>
            <a:r>
              <a:rPr sz="2800" b="0" i="0">
                <a:solidFill>
                  <a:srgbClr val="421E0F"/>
                </a:solidFill>
                <a:latin typeface="Barlow"/>
              </a:rPr>
              <a:t>Copilot aceleró la implementación guiada por requisitos.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111" r="0" b="-15111"/>
            </a:stretch>
          </a:blipFill>
        </p:spPr>
      </p:sp>
      <p:grpSp>
        <p:nvGrpSpPr>
          <p:cNvPr name="Group 10" id="10"/>
          <p:cNvGrpSpPr/>
          <p:nvPr/>
        </p:nvGrpSpPr>
        <p:grpSpPr>
          <a:xfrm rot="5400000">
            <a:off x="10521483" y="1083428"/>
            <a:ext cx="10287000" cy="8120143"/>
            <a:chOff x="0" y="0"/>
            <a:chExt cx="735852" cy="580852"/>
          </a:xfrm>
        </p:grpSpPr>
        <p:sp>
          <p:nvSpPr>
            <p:cNvPr name="Freeform 11" id="11"/>
            <p:cNvSpPr/>
            <p:nvPr/>
          </p:nvSpPr>
          <p:spPr>
            <a:xfrm flipH="false" flipV="false" rot="0">
              <a:off x="0" y="0"/>
              <a:ext cx="735852" cy="580852"/>
            </a:xfrm>
            <a:custGeom>
              <a:avLst/>
              <a:gdLst/>
              <a:ahLst/>
              <a:cxnLst/>
              <a:rect r="r" b="b" t="t" l="l"/>
              <a:pathLst>
                <a:path h="580852" w="735852">
                  <a:moveTo>
                    <a:pt x="0" y="50800"/>
                  </a:moveTo>
                  <a:lnTo>
                    <a:pt x="367926" y="0"/>
                  </a:lnTo>
                  <a:lnTo>
                    <a:pt x="735852" y="50800"/>
                  </a:lnTo>
                  <a:lnTo>
                    <a:pt x="735852" y="530052"/>
                  </a:lnTo>
                  <a:lnTo>
                    <a:pt x="367926" y="580852"/>
                  </a:lnTo>
                  <a:lnTo>
                    <a:pt x="0" y="530052"/>
                  </a:lnTo>
                  <a:lnTo>
                    <a:pt x="0" y="50800"/>
                  </a:lnTo>
                  <a:close/>
                </a:path>
              </a:pathLst>
            </a:custGeom>
            <a:solidFill>
              <a:srgbClr val="6D3720"/>
            </a:solidFill>
          </p:spPr>
        </p:sp>
        <p:sp>
          <p:nvSpPr>
            <p:cNvPr name="TextBox 12" id="12"/>
            <p:cNvSpPr txBox="true"/>
            <p:nvPr/>
          </p:nvSpPr>
          <p:spPr>
            <a:xfrm>
              <a:off x="0" y="15875"/>
              <a:ext cx="735852" cy="539577"/>
            </a:xfrm>
            <a:prstGeom prst="rect">
              <a:avLst/>
            </a:prstGeom>
          </p:spPr>
          <p:txBody>
            <a:bodyPr anchor="ctr" rtlCol="false" tIns="50800" lIns="50800" bIns="50800" rIns="50800"/>
            <a:lstStyle/>
            <a:p>
              <a:pPr algn="ctr">
                <a:lnSpc>
                  <a:spcPts val="2924"/>
                </a:lnSpc>
              </a:pPr>
            </a:p>
          </p:txBody>
        </p:sp>
      </p:grpSp>
      <p:grpSp>
        <p:nvGrpSpPr>
          <p:cNvPr name="Group 13" id="13"/>
          <p:cNvGrpSpPr/>
          <p:nvPr/>
        </p:nvGrpSpPr>
        <p:grpSpPr>
          <a:xfrm rot="5400000">
            <a:off x="13144500" y="4057512"/>
            <a:ext cx="10287000" cy="2171976"/>
            <a:chOff x="0" y="0"/>
            <a:chExt cx="735852" cy="155366"/>
          </a:xfrm>
        </p:grpSpPr>
        <p:sp>
          <p:nvSpPr>
            <p:cNvPr name="Freeform 14" id="14"/>
            <p:cNvSpPr/>
            <p:nvPr/>
          </p:nvSpPr>
          <p:spPr>
            <a:xfrm flipH="false" flipV="false" rot="0">
              <a:off x="0" y="0"/>
              <a:ext cx="735852" cy="155366"/>
            </a:xfrm>
            <a:custGeom>
              <a:avLst/>
              <a:gdLst/>
              <a:ahLst/>
              <a:cxnLst/>
              <a:rect r="r" b="b" t="t" l="l"/>
              <a:pathLst>
                <a:path h="155366" w="735852">
                  <a:moveTo>
                    <a:pt x="0" y="50800"/>
                  </a:moveTo>
                  <a:lnTo>
                    <a:pt x="367926" y="0"/>
                  </a:lnTo>
                  <a:lnTo>
                    <a:pt x="735852" y="50800"/>
                  </a:lnTo>
                  <a:lnTo>
                    <a:pt x="735852" y="104566"/>
                  </a:lnTo>
                  <a:lnTo>
                    <a:pt x="367926" y="155366"/>
                  </a:lnTo>
                  <a:lnTo>
                    <a:pt x="0" y="104566"/>
                  </a:lnTo>
                  <a:lnTo>
                    <a:pt x="0" y="50800"/>
                  </a:lnTo>
                  <a:close/>
                </a:path>
              </a:pathLst>
            </a:custGeom>
            <a:solidFill>
              <a:srgbClr val="421E0F"/>
            </a:solidFill>
          </p:spPr>
        </p:sp>
        <p:sp>
          <p:nvSpPr>
            <p:cNvPr name="TextBox 15" id="15"/>
            <p:cNvSpPr txBox="true"/>
            <p:nvPr/>
          </p:nvSpPr>
          <p:spPr>
            <a:xfrm>
              <a:off x="0" y="15875"/>
              <a:ext cx="735852" cy="114091"/>
            </a:xfrm>
            <a:prstGeom prst="rect">
              <a:avLst/>
            </a:prstGeom>
          </p:spPr>
          <p:txBody>
            <a:bodyPr anchor="ctr" rtlCol="false" tIns="50800" lIns="50800" bIns="50800" rIns="50800"/>
            <a:lstStyle/>
            <a:p>
              <a:pPr algn="ctr">
                <a:lnSpc>
                  <a:spcPts val="2924"/>
                </a:lnSpc>
              </a:pPr>
            </a:p>
          </p:txBody>
        </p:sp>
      </p:grpSp>
      <p:sp>
        <p:nvSpPr>
          <p:cNvPr id="16" name="Título"/>
          <p:cNvSpPr txBox="1"/>
          <p:nvPr/>
        </p:nvSpPr>
        <p:spPr>
          <a:xfrm>
            <a:off x="1005840" y="2103120"/>
            <a:ext cx="10515600" cy="1645920"/>
          </a:xfrm>
          <a:prstGeom prst="rect">
            <a:avLst/>
          </a:prstGeom>
          <a:noFill/>
        </p:spPr>
        <p:txBody>
          <a:bodyPr wrap="square" lIns="0" rIns="0" tIns="0" bIns="0" anchor="t">
            <a:noAutofit/>
          </a:bodyPr>
          <a:lstStyle/>
          <a:p>
            <a:pPr algn="l"/>
            <a:r>
              <a:rPr sz="8800" b="1" i="0">
                <a:solidFill>
                  <a:srgbClr val="421E0F"/>
                </a:solidFill>
                <a:latin typeface="Cormorant Garamond Bold"/>
              </a:rPr>
              <a:t>¿PREGUNTAS?</a:t>
            </a:r>
          </a:p>
        </p:txBody>
      </p:sp>
      <p:sp>
        <p:nvSpPr>
          <p:cNvPr id="17" name="TextBox 16"/>
          <p:cNvSpPr txBox="1"/>
          <p:nvPr/>
        </p:nvSpPr>
        <p:spPr>
          <a:xfrm>
            <a:off x="1005840" y="4023360"/>
            <a:ext cx="8686800" cy="914400"/>
          </a:xfrm>
          <a:prstGeom prst="rect">
            <a:avLst/>
          </a:prstGeom>
          <a:noFill/>
        </p:spPr>
        <p:txBody>
          <a:bodyPr wrap="square" lIns="0" rIns="0" tIns="0" bIns="0" anchor="t">
            <a:noAutofit/>
          </a:bodyPr>
          <a:lstStyle/>
          <a:p>
            <a:pPr algn="l"/>
            <a:r>
              <a:rPr sz="4000" b="1" i="0">
                <a:solidFill>
                  <a:srgbClr val="6D3720"/>
                </a:solidFill>
                <a:latin typeface="Barlow"/>
              </a:rPr>
              <a:t>Gracias por su atención</a:t>
            </a:r>
          </a:p>
        </p:txBody>
      </p:sp>
      <p:sp>
        <p:nvSpPr>
          <p:cNvPr id="18" name="TextBox 17"/>
          <p:cNvSpPr txBox="1"/>
          <p:nvPr/>
        </p:nvSpPr>
        <p:spPr>
          <a:xfrm>
            <a:off x="1005840" y="5852160"/>
            <a:ext cx="8686800" cy="457200"/>
          </a:xfrm>
          <a:prstGeom prst="rect">
            <a:avLst/>
          </a:prstGeom>
          <a:noFill/>
        </p:spPr>
        <p:txBody>
          <a:bodyPr wrap="square" lIns="0" rIns="0" tIns="0" bIns="0" anchor="t">
            <a:noAutofit/>
          </a:bodyPr>
          <a:lstStyle/>
          <a:p>
            <a:pPr algn="l"/>
            <a:r>
              <a:rPr sz="2200" b="1" i="0">
                <a:solidFill>
                  <a:srgbClr val="6D3720"/>
                </a:solidFill>
                <a:latin typeface="Barlow"/>
              </a:rPr>
              <a:t>EXPOSITORES</a:t>
            </a:r>
          </a:p>
        </p:txBody>
      </p:sp>
      <p:sp>
        <p:nvSpPr>
          <p:cNvPr id="19" name="TextBox 18"/>
          <p:cNvSpPr txBox="1"/>
          <p:nvPr/>
        </p:nvSpPr>
        <p:spPr>
          <a:xfrm>
            <a:off x="1005840" y="6400800"/>
            <a:ext cx="8686800" cy="1280160"/>
          </a:xfrm>
          <a:prstGeom prst="rect">
            <a:avLst/>
          </a:prstGeom>
          <a:noFill/>
        </p:spPr>
        <p:txBody>
          <a:bodyPr wrap="square" lIns="0" rIns="0" tIns="0" bIns="0" anchor="t">
            <a:noAutofit/>
          </a:bodyPr>
          <a:lstStyle/>
          <a:p>
            <a:pPr algn="l">
              <a:spcAft>
                <a:spcPts val="400"/>
              </a:spcAft>
            </a:pPr>
            <a:r>
              <a:rPr sz="3000" b="0" i="0">
                <a:solidFill>
                  <a:srgbClr val="421E0F"/>
                </a:solidFill>
                <a:latin typeface="Barlow"/>
              </a:rPr>
              <a:t>Santiago Nicolás Blacio Quimis</a:t>
            </a:r>
          </a:p>
          <a:p>
            <a:pPr algn="l">
              <a:spcAft>
                <a:spcPts val="400"/>
              </a:spcAft>
            </a:pPr>
            <a:r>
              <a:rPr sz="3000" b="0" i="0">
                <a:solidFill>
                  <a:srgbClr val="421E0F"/>
                </a:solidFill>
                <a:latin typeface="Barlow"/>
              </a:rPr>
              <a:t>Frank Emilson Cárdenas Figueroa</a:t>
            </a:r>
          </a:p>
        </p:txBody>
      </p:sp>
      <p:sp>
        <p:nvSpPr>
          <p:cNvPr id="20" name="TextBox 19"/>
          <p:cNvSpPr txBox="1"/>
          <p:nvPr/>
        </p:nvSpPr>
        <p:spPr>
          <a:xfrm>
            <a:off x="1005840" y="8138160"/>
            <a:ext cx="8686800" cy="457200"/>
          </a:xfrm>
          <a:prstGeom prst="rect">
            <a:avLst/>
          </a:prstGeom>
          <a:noFill/>
        </p:spPr>
        <p:txBody>
          <a:bodyPr wrap="square" lIns="0" rIns="0" tIns="0" bIns="0" anchor="t">
            <a:noAutofit/>
          </a:bodyPr>
          <a:lstStyle/>
          <a:p>
            <a:pPr algn="l"/>
            <a:r>
              <a:rPr sz="2200" b="1" i="0">
                <a:solidFill>
                  <a:srgbClr val="6D3720"/>
                </a:solidFill>
                <a:latin typeface="Barlow"/>
              </a:rPr>
              <a:t>UNIVERSIDAD</a:t>
            </a:r>
          </a:p>
        </p:txBody>
      </p:sp>
      <p:sp>
        <p:nvSpPr>
          <p:cNvPr id="21" name="TextBox 20"/>
          <p:cNvSpPr txBox="1"/>
          <p:nvPr/>
        </p:nvSpPr>
        <p:spPr>
          <a:xfrm>
            <a:off x="1005840" y="8686800"/>
            <a:ext cx="8686800" cy="914400"/>
          </a:xfrm>
          <a:prstGeom prst="rect">
            <a:avLst/>
          </a:prstGeom>
          <a:noFill/>
        </p:spPr>
        <p:txBody>
          <a:bodyPr wrap="square" lIns="0" rIns="0" tIns="0" bIns="0" anchor="t">
            <a:noAutofit/>
          </a:bodyPr>
          <a:lstStyle/>
          <a:p>
            <a:pPr algn="l"/>
            <a:r>
              <a:rPr sz="2800" b="0" i="0">
                <a:solidFill>
                  <a:srgbClr val="421E0F"/>
                </a:solidFill>
                <a:latin typeface="Barlow"/>
              </a:rPr>
              <a:t>Universidad Técnica de Machala</a:t>
            </a:r>
          </a:p>
          <a:p>
            <a:pPr algn="l"/>
            <a:r>
              <a:rPr sz="2800" b="0" i="0">
                <a:solidFill>
                  <a:srgbClr val="421E0F"/>
                </a:solidFill>
                <a:latin typeface="Barlow"/>
              </a:rPr>
              <a:t>Programación Avanzada en C# · 4A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DAHZQwVuYRQ</dc:identifier>
  <dcterms:modified xsi:type="dcterms:W3CDTF">2011-08-01T06:04:30Z</dcterms:modified>
  <cp:revision>1</cp:revision>
  <dc:title>Presentación plan empresarial minimalista marrón</dc:title>
</cp:coreProperties>
</file>